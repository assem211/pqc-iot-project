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13.fntdata" ContentType="application/x-fontdata"/>
  <Override PartName="/ppt/fonts/font14.fntdata" ContentType="application/x-fontdata"/>
  <Override PartName="/ppt/fonts/font15.fntdata" ContentType="application/x-fontdata"/>
  <Override PartName="/ppt/fonts/font16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12192000" cy="6858000"/>
  <p:notesSz cx="6858000" cy="9144000"/>
  <p:embeddedFontLst>
    <p:embeddedFont>
      <p:font typeface="Calibri" panose="020F0502020204030204"/>
      <p:regular r:id="rId22"/>
      <p:bold r:id="rId23"/>
      <p:italic r:id="rId24"/>
      <p:boldItalic r:id="rId25"/>
    </p:embeddedFont>
    <p:embeddedFont>
      <p:font typeface="Urbanist" panose="020B0A04040200000203"/>
      <p:regular r:id="rId26"/>
      <p:bold r:id="rId27"/>
      <p:italic r:id="rId28"/>
      <p:boldItalic r:id="rId29"/>
    </p:embeddedFont>
    <p:embeddedFont>
      <p:font typeface="Urbanist Medium" panose="020B0A04040200000203"/>
      <p:regular r:id="rId30"/>
      <p:bold r:id="rId31"/>
      <p:italic r:id="rId32"/>
      <p:boldItalic r:id="rId33"/>
    </p:embeddedFont>
    <p:embeddedFont>
      <p:font typeface="JetBrains Mono" panose="02000009000000000000"/>
      <p:regular r:id="rId34"/>
      <p:bold r:id="rId35"/>
      <p:italic r:id="rId36"/>
      <p:boldItalic r:id="rId3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000000"/>
          </p15:clr>
        </p15:guide>
        <p15:guide id="2" pos="2880" userDrawn="1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4C0DFF2-D55C-4E0C-A8B3-CC3F397FC56F}" styleName="Table_0">
    <a:wholeTbl>
      <a:tcTxStyle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Style>
        <a:tcBdr/>
        <a:fill>
          <a:solidFill>
            <a:srgbClr val="CFD7E7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CFD7E7"/>
          </a:solidFill>
        </a:fill>
      </a:tcStyle>
    </a:band1V>
    <a:band2V>
      <a:tcStyle>
        <a:tcBdr/>
      </a:tcStyle>
    </a:band2V>
    <a:lastCol>
      <a:tcTxStyle b="on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216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7" Type="http://schemas.openxmlformats.org/officeDocument/2006/relationships/font" Target="fonts/font16.fntdata"/><Relationship Id="rId36" Type="http://schemas.openxmlformats.org/officeDocument/2006/relationships/font" Target="fonts/font15.fntdata"/><Relationship Id="rId35" Type="http://schemas.openxmlformats.org/officeDocument/2006/relationships/font" Target="fonts/font14.fntdata"/><Relationship Id="rId34" Type="http://schemas.openxmlformats.org/officeDocument/2006/relationships/font" Target="fonts/font13.fntdata"/><Relationship Id="rId33" Type="http://schemas.openxmlformats.org/officeDocument/2006/relationships/font" Target="fonts/font12.fntdata"/><Relationship Id="rId32" Type="http://schemas.openxmlformats.org/officeDocument/2006/relationships/font" Target="fonts/font11.fntdata"/><Relationship Id="rId31" Type="http://schemas.openxmlformats.org/officeDocument/2006/relationships/font" Target="fonts/font10.fntdata"/><Relationship Id="rId30" Type="http://schemas.openxmlformats.org/officeDocument/2006/relationships/font" Target="fonts/font9.fntdata"/><Relationship Id="rId3" Type="http://schemas.openxmlformats.org/officeDocument/2006/relationships/slide" Target="slides/slide1.xml"/><Relationship Id="rId29" Type="http://schemas.openxmlformats.org/officeDocument/2006/relationships/font" Target="fonts/font8.fntdata"/><Relationship Id="rId28" Type="http://schemas.openxmlformats.org/officeDocument/2006/relationships/font" Target="fonts/font7.fntdata"/><Relationship Id="rId27" Type="http://schemas.openxmlformats.org/officeDocument/2006/relationships/font" Target="fonts/font6.fntdata"/><Relationship Id="rId26" Type="http://schemas.openxmlformats.org/officeDocument/2006/relationships/font" Target="fonts/font5.fntdata"/><Relationship Id="rId25" Type="http://schemas.openxmlformats.org/officeDocument/2006/relationships/font" Target="fonts/font4.fntdata"/><Relationship Id="rId24" Type="http://schemas.openxmlformats.org/officeDocument/2006/relationships/font" Target="fonts/font3.fntdata"/><Relationship Id="rId23" Type="http://schemas.openxmlformats.org/officeDocument/2006/relationships/font" Target="fonts/font2.fntdata"/><Relationship Id="rId22" Type="http://schemas.openxmlformats.org/officeDocument/2006/relationships/font" Target="fonts/font1.fntdata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2" name="Google Shape;82;p1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5" name="Google Shape;95;p2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9" name="Google Shape;109;p3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6" name="Google Shape;126;p4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5" name="Google Shape;145;p5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60" name="Google Shape;160;p6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75" name="Google Shape;175;p7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91" name="Google Shape;191;p8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12" name="Google Shape;212;p9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31" name="Google Shape;231;p10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41" name="Google Shape;241;p11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52" name="Google Shape;252;p12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60" name="Google Shape;260;p13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77" name="Google Shape;277;p14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94" name="Google Shape;294;p15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 panose="020F0502020204030204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wo Content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ison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3" name="Google Shape;43;p7"/>
          <p:cNvSpPr txBox="1"/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5" name="Google Shape;45;p7"/>
          <p:cNvSpPr txBox="1"/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Content with Caption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Picture with Caption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itle and Vertical Text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Vertical Title and Text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–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»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4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11.png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2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6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2.png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9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22.png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3.png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5.png"/><Relationship Id="rId1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2.png"/><Relationship Id="rId1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5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8.png"/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774065" y="1873250"/>
            <a:ext cx="110490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8B949E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An-Najah National University</a:t>
            </a:r>
            <a:endParaRPr lang="en-US" sz="2100" b="0" i="0" u="none" strike="noStrike" cap="none">
              <a:solidFill>
                <a:srgbClr val="8B949E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221615" y="2197100"/>
            <a:ext cx="11601450" cy="1340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58A6FF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Lightweight Post-Quantum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r>
              <a:rPr lang="en-US" sz="4800" b="1" i="0" u="none" strike="noStrike" cap="none">
                <a:solidFill>
                  <a:srgbClr val="58A6FF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 Cryptography for IoT Devices</a:t>
            </a:r>
            <a:endParaRPr lang="en-US" sz="4800" b="1" i="0" u="none" strike="noStrike" cap="none">
              <a:solidFill>
                <a:srgbClr val="58A6FF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847725" y="4032071"/>
            <a:ext cx="110490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58A6FF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Cryptography and Network Security | University Project</a:t>
            </a:r>
            <a:endParaRPr lang="en-US" sz="1800" b="0" i="0" u="none" strike="noStrike" cap="none">
              <a:solidFill>
                <a:srgbClr val="58A6FF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571500" y="5717272"/>
            <a:ext cx="11049000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9D1D9"/>
                </a:solidFill>
                <a:latin typeface="Urbanist Medium" panose="020B0A04040200000203"/>
                <a:ea typeface="Urbanist Medium" panose="020B0A04040200000203"/>
                <a:cs typeface="Urbanist Medium" panose="020B0A04040200000203"/>
                <a:sym typeface="Urbanist Medium" panose="020B0A04040200000203"/>
              </a:rPr>
              <a:t>Instructor: Dr. Jehad Hamamreh</a:t>
            </a:r>
            <a:endParaRPr lang="en-US" sz="1200" b="0" i="0" u="none" strike="noStrike" cap="none">
              <a:solidFill>
                <a:srgbClr val="C9D1D9"/>
              </a:solidFill>
              <a:latin typeface="Urbanist Medium" panose="020B0A04040200000203"/>
              <a:ea typeface="Urbanist Medium" panose="020B0A04040200000203"/>
              <a:cs typeface="Urbanist Medium" panose="020B0A04040200000203"/>
              <a:sym typeface="Urbanist Medium" panose="020B0A04040200000203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571500" y="4891772"/>
            <a:ext cx="35559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58A6FF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Assem Ahmad</a:t>
            </a:r>
            <a:endParaRPr lang="en-US" sz="1500" b="1" i="0" u="none" strike="noStrike" cap="none">
              <a:solidFill>
                <a:srgbClr val="58A6FF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4317950" y="4891772"/>
            <a:ext cx="35559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58A6FF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Omar Morsi</a:t>
            </a:r>
            <a:endParaRPr lang="en-US" sz="1500" b="1" i="0" u="none" strike="noStrike" cap="none">
              <a:solidFill>
                <a:srgbClr val="58A6FF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91" name="Google Shape;91;p13"/>
          <p:cNvSpPr txBox="1"/>
          <p:nvPr/>
        </p:nvSpPr>
        <p:spPr>
          <a:xfrm>
            <a:off x="8064400" y="4781917"/>
            <a:ext cx="3556099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58A6FF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Yaser Anan</a:t>
            </a:r>
            <a:endParaRPr lang="en-US" sz="1500" b="1" i="0" u="none" strike="noStrike" cap="none">
              <a:solidFill>
                <a:srgbClr val="58A6FF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pic>
        <p:nvPicPr>
          <p:cNvPr id="92" name="Google Shape;92;p13" descr="image.png"/>
          <p:cNvPicPr preferRelativeResize="0"/>
          <p:nvPr/>
        </p:nvPicPr>
        <p:blipFill rotWithShape="1">
          <a:blip r:embed="rId2"/>
          <a:srcRect l="-917" r="917"/>
          <a:stretch>
            <a:fillRect/>
          </a:stretch>
        </p:blipFill>
        <p:spPr>
          <a:xfrm>
            <a:off x="5448935" y="461645"/>
            <a:ext cx="1453515" cy="11347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14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4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71500" y="2110085"/>
            <a:ext cx="5334000" cy="2674143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4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6286500" y="2110085"/>
            <a:ext cx="5334000" cy="2674143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4"/>
          <p:cNvSpPr txBox="1"/>
          <p:nvPr/>
        </p:nvSpPr>
        <p:spPr>
          <a:xfrm>
            <a:off x="809625" y="571500"/>
            <a:ext cx="11351418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0F6FC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PROJECT OVERVIEW</a:t>
            </a:r>
            <a:endParaRPr lang="en-US" sz="3150" b="1" i="0" u="none" strike="noStrike" cap="none">
              <a:solidFill>
                <a:srgbClr val="F0F6FC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101" name="Google Shape;101;p14"/>
          <p:cNvSpPr/>
          <p:nvPr/>
        </p:nvSpPr>
        <p:spPr>
          <a:xfrm>
            <a:off x="571500" y="571500"/>
            <a:ext cx="57150" cy="485775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2" name="Google Shape;102;p14"/>
          <p:cNvSpPr txBox="1"/>
          <p:nvPr/>
        </p:nvSpPr>
        <p:spPr>
          <a:xfrm>
            <a:off x="571500" y="5069978"/>
            <a:ext cx="110490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58A6FF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Core Mission:</a:t>
            </a:r>
            <a:r>
              <a:rPr lang="en-US" sz="1650" b="0" i="0" u="none" strike="noStrike" cap="none">
                <a:solidFill>
                  <a:srgbClr val="8B949E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 Balance high-grade security (NIST Level III) with minimal memory, energy, and computation overhead.</a:t>
            </a:r>
            <a:endParaRPr lang="en-US" sz="1650" b="0" i="0" u="none" strike="noStrike" cap="none">
              <a:solidFill>
                <a:srgbClr val="8B949E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103" name="Google Shape;103;p14"/>
          <p:cNvSpPr txBox="1"/>
          <p:nvPr/>
        </p:nvSpPr>
        <p:spPr>
          <a:xfrm>
            <a:off x="866775" y="2405360"/>
            <a:ext cx="4980622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58A6FF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The Challenge</a:t>
            </a:r>
            <a:endParaRPr lang="en-US" sz="2100" b="1" i="0" u="none" strike="noStrike" cap="none">
              <a:solidFill>
                <a:srgbClr val="58A6FF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104" name="Google Shape;104;p14"/>
          <p:cNvSpPr txBox="1"/>
          <p:nvPr/>
        </p:nvSpPr>
        <p:spPr>
          <a:xfrm>
            <a:off x="866775" y="2938760"/>
            <a:ext cx="4743450" cy="1340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8B949E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The dawn of quantum computing threatens classical encryption (RSA/ECC) by solving hard mathematical problems in seconds using </a:t>
            </a:r>
            <a:r>
              <a:rPr lang="en-US" sz="1650" b="1" i="0" u="none" strike="noStrike" cap="none">
                <a:solidFill>
                  <a:srgbClr val="58A6FF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Shor’s Algorithm</a:t>
            </a:r>
            <a:r>
              <a:rPr lang="en-US" sz="1650" b="0" i="0" u="none" strike="noStrike" cap="none">
                <a:solidFill>
                  <a:srgbClr val="8B949E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.</a:t>
            </a:r>
            <a:endParaRPr lang="en-US" sz="1650" b="0" i="0" u="none" strike="noStrike" cap="none">
              <a:solidFill>
                <a:srgbClr val="8B949E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105" name="Google Shape;105;p14"/>
          <p:cNvSpPr txBox="1"/>
          <p:nvPr/>
        </p:nvSpPr>
        <p:spPr>
          <a:xfrm>
            <a:off x="6581775" y="2405360"/>
            <a:ext cx="4980622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58A6FF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Our Goal</a:t>
            </a:r>
            <a:endParaRPr lang="en-US" sz="2100" b="1" i="0" u="none" strike="noStrike" cap="none">
              <a:solidFill>
                <a:srgbClr val="58A6FF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106" name="Google Shape;106;p14"/>
          <p:cNvSpPr txBox="1"/>
          <p:nvPr/>
        </p:nvSpPr>
        <p:spPr>
          <a:xfrm>
            <a:off x="6581775" y="2938760"/>
            <a:ext cx="4743450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8B949E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To design and evaluate a </a:t>
            </a:r>
            <a:r>
              <a:rPr lang="en-US" sz="1650" b="1" i="0" u="none" strike="noStrike" cap="none">
                <a:solidFill>
                  <a:srgbClr val="58A6FF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Lightweight PQC Scheme</a:t>
            </a:r>
            <a:r>
              <a:rPr lang="en-US" sz="1650" b="0" i="0" u="none" strike="noStrike" cap="none">
                <a:solidFill>
                  <a:srgbClr val="8B949E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 specifically optimized for resource-constrained IoT devices like </a:t>
            </a:r>
            <a:r>
              <a:rPr lang="en-US" sz="1650" b="1" i="0" u="none" strike="noStrike" cap="none">
                <a:solidFill>
                  <a:srgbClr val="58A6FF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STM32</a:t>
            </a:r>
            <a:r>
              <a:rPr lang="en-US" sz="1650" b="0" i="0" u="none" strike="noStrike" cap="none">
                <a:solidFill>
                  <a:srgbClr val="8B949E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 and </a:t>
            </a:r>
            <a:r>
              <a:rPr lang="en-US" sz="1650" b="1" i="0" u="none" strike="noStrike" cap="none">
                <a:solidFill>
                  <a:srgbClr val="58A6FF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ESP32</a:t>
            </a:r>
            <a:r>
              <a:rPr lang="en-US" sz="1650" b="0" i="0" u="none" strike="noStrike" cap="none">
                <a:solidFill>
                  <a:srgbClr val="8B949E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.</a:t>
            </a:r>
            <a:endParaRPr lang="en-US" sz="1650" b="0" i="0" u="none" strike="noStrike" cap="none">
              <a:solidFill>
                <a:srgbClr val="8B949E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15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5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6286500" y="1957387"/>
            <a:ext cx="5334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5"/>
          <p:cNvSpPr txBox="1"/>
          <p:nvPr/>
        </p:nvSpPr>
        <p:spPr>
          <a:xfrm>
            <a:off x="809625" y="571500"/>
            <a:ext cx="11351418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0F6FC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QUANTUM THREAT &amp; IOT CONTEXT</a:t>
            </a:r>
            <a:endParaRPr lang="en-US" sz="3150" b="1" i="0" u="none" strike="noStrike" cap="none">
              <a:solidFill>
                <a:srgbClr val="F0F6FC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114" name="Google Shape;114;p15"/>
          <p:cNvSpPr/>
          <p:nvPr/>
        </p:nvSpPr>
        <p:spPr>
          <a:xfrm>
            <a:off x="571500" y="571500"/>
            <a:ext cx="57150" cy="485775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15" name="Google Shape;115;p15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296025" y="1966912"/>
            <a:ext cx="531495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/>
        </p:nvSpPr>
        <p:spPr>
          <a:xfrm>
            <a:off x="914400" y="2110740"/>
            <a:ext cx="381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8B949E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•</a:t>
            </a:r>
            <a:endParaRPr lang="en-US" sz="1650" b="0" i="0" u="none" strike="noStrike" cap="none">
              <a:solidFill>
                <a:srgbClr val="8B949E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117" name="Google Shape;117;p15"/>
          <p:cNvSpPr txBox="1"/>
          <p:nvPr/>
        </p:nvSpPr>
        <p:spPr>
          <a:xfrm>
            <a:off x="952500" y="2109787"/>
            <a:ext cx="495300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58A6FF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IoT Limitations:</a:t>
            </a:r>
            <a:r>
              <a:rPr lang="en-US" sz="1650" b="0" i="0" u="none" strike="noStrike" cap="none">
                <a:solidFill>
                  <a:srgbClr val="8B949E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 Minimal RAM, low clock speeds, and strict battery constraints.</a:t>
            </a:r>
            <a:endParaRPr lang="en-US" sz="1650" b="0" i="0" u="none" strike="noStrike" cap="none">
              <a:solidFill>
                <a:srgbClr val="8B949E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118" name="Google Shape;118;p15"/>
          <p:cNvSpPr txBox="1"/>
          <p:nvPr/>
        </p:nvSpPr>
        <p:spPr>
          <a:xfrm>
            <a:off x="914400" y="2781061"/>
            <a:ext cx="381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8B949E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•</a:t>
            </a:r>
            <a:endParaRPr lang="en-US" sz="1650" b="0" i="0" u="none" strike="noStrike" cap="none">
              <a:solidFill>
                <a:srgbClr val="8B949E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119" name="Google Shape;119;p15"/>
          <p:cNvSpPr txBox="1"/>
          <p:nvPr/>
        </p:nvSpPr>
        <p:spPr>
          <a:xfrm>
            <a:off x="952500" y="2780109"/>
            <a:ext cx="4953000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58A6FF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Traditional Fragility:</a:t>
            </a:r>
            <a:r>
              <a:rPr lang="en-US" sz="1650" b="0" i="0" u="none" strike="noStrike" cap="none">
                <a:solidFill>
                  <a:srgbClr val="8B949E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 RSA and ECC rely on Integer Factorization and Discrete Logs—trivial for Quantum Computers.</a:t>
            </a:r>
            <a:endParaRPr lang="en-US" sz="1650" b="0" i="0" u="none" strike="noStrike" cap="none">
              <a:solidFill>
                <a:srgbClr val="8B949E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914400" y="3786544"/>
            <a:ext cx="381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8B949E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•</a:t>
            </a:r>
            <a:endParaRPr lang="en-US" sz="1650" b="0" i="0" u="none" strike="noStrike" cap="none">
              <a:solidFill>
                <a:srgbClr val="8B949E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121" name="Google Shape;121;p15"/>
          <p:cNvSpPr txBox="1"/>
          <p:nvPr/>
        </p:nvSpPr>
        <p:spPr>
          <a:xfrm>
            <a:off x="952500" y="3785592"/>
            <a:ext cx="495300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58A6FF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Quantum Supremacy:</a:t>
            </a:r>
            <a:r>
              <a:rPr lang="en-US" sz="1650" b="0" i="0" u="none" strike="noStrike" cap="none">
                <a:solidFill>
                  <a:srgbClr val="8B949E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 Efficient execution of Shor’s algorithm breaks current end-to-end security.</a:t>
            </a:r>
            <a:endParaRPr lang="en-US" sz="1650" b="0" i="0" u="none" strike="noStrike" cap="none">
              <a:solidFill>
                <a:srgbClr val="8B949E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122" name="Google Shape;122;p15"/>
          <p:cNvSpPr txBox="1"/>
          <p:nvPr/>
        </p:nvSpPr>
        <p:spPr>
          <a:xfrm>
            <a:off x="914400" y="4456866"/>
            <a:ext cx="381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8B949E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•</a:t>
            </a:r>
            <a:endParaRPr lang="en-US" sz="1650" b="0" i="0" u="none" strike="noStrike" cap="none">
              <a:solidFill>
                <a:srgbClr val="8B949E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952500" y="4455914"/>
            <a:ext cx="495300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58A6FF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PQC Transition:</a:t>
            </a:r>
            <a:r>
              <a:rPr lang="en-US" sz="1650" b="0" i="0" u="none" strike="noStrike" cap="none">
                <a:solidFill>
                  <a:srgbClr val="8B949E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 NIST is standardizing new algorithms, but most are too heavy for sensors.</a:t>
            </a:r>
            <a:endParaRPr lang="en-US" sz="1650" b="0" i="0" u="none" strike="noStrike" cap="none">
              <a:solidFill>
                <a:srgbClr val="8B949E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6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6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71500" y="2091928"/>
            <a:ext cx="3492549" cy="354091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6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4349799" y="2091928"/>
            <a:ext cx="3492549" cy="354091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6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8128099" y="2091928"/>
            <a:ext cx="3492549" cy="354091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/>
        </p:nvSpPr>
        <p:spPr>
          <a:xfrm>
            <a:off x="809625" y="571500"/>
            <a:ext cx="11351418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0F6FC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DEFINING THE PROBLEM</a:t>
            </a:r>
            <a:endParaRPr lang="en-US" sz="3150" b="1" i="0" u="none" strike="noStrike" cap="none">
              <a:solidFill>
                <a:srgbClr val="F0F6FC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133" name="Google Shape;133;p16"/>
          <p:cNvSpPr/>
          <p:nvPr/>
        </p:nvSpPr>
        <p:spPr>
          <a:xfrm>
            <a:off x="571500" y="571500"/>
            <a:ext cx="57150" cy="485775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34" name="Google Shape;134;p16"/>
          <p:cNvSpPr txBox="1"/>
          <p:nvPr/>
        </p:nvSpPr>
        <p:spPr>
          <a:xfrm>
            <a:off x="844231" y="3253978"/>
            <a:ext cx="2947087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0F6FC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Hardware Constraints</a:t>
            </a:r>
            <a:endParaRPr lang="en-US" sz="1800" b="1" i="0" u="none" strike="noStrike" cap="none">
              <a:solidFill>
                <a:srgbClr val="F0F6FC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135" name="Google Shape;135;p16"/>
          <p:cNvSpPr txBox="1"/>
          <p:nvPr/>
        </p:nvSpPr>
        <p:spPr>
          <a:xfrm>
            <a:off x="914400" y="3739753"/>
            <a:ext cx="2806749" cy="1340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8B949E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Standard PQC often requires </a:t>
            </a:r>
            <a:r>
              <a:rPr lang="en-US" sz="1650" b="1" i="0" u="none" strike="noStrike" cap="none">
                <a:solidFill>
                  <a:srgbClr val="58A6FF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250KB - 500KB</a:t>
            </a:r>
            <a:r>
              <a:rPr lang="en-US" sz="1650" b="0" i="0" u="none" strike="noStrike" cap="none">
                <a:solidFill>
                  <a:srgbClr val="8B949E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 of RAM, exceeding many IoT chip limits.</a:t>
            </a:r>
            <a:endParaRPr lang="en-US" sz="1650" b="0" i="0" u="none" strike="noStrike" cap="none">
              <a:solidFill>
                <a:srgbClr val="8B949E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136" name="Google Shape;136;p16"/>
          <p:cNvSpPr txBox="1"/>
          <p:nvPr/>
        </p:nvSpPr>
        <p:spPr>
          <a:xfrm>
            <a:off x="4622530" y="3253978"/>
            <a:ext cx="2947087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0F6FC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Energy Inefficiency</a:t>
            </a:r>
            <a:endParaRPr lang="en-US" sz="1800" b="1" i="0" u="none" strike="noStrike" cap="none">
              <a:solidFill>
                <a:srgbClr val="F0F6FC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137" name="Google Shape;137;p16"/>
          <p:cNvSpPr txBox="1"/>
          <p:nvPr/>
        </p:nvSpPr>
        <p:spPr>
          <a:xfrm>
            <a:off x="4692699" y="3739753"/>
            <a:ext cx="2806749" cy="1340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8B949E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Complex lattice operations drain small batteries, shortening device lifespan significantly.</a:t>
            </a:r>
            <a:endParaRPr lang="en-US" sz="1650" b="0" i="0" u="none" strike="noStrike" cap="none">
              <a:solidFill>
                <a:srgbClr val="8B949E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138" name="Google Shape;138;p16"/>
          <p:cNvSpPr txBox="1"/>
          <p:nvPr/>
        </p:nvSpPr>
        <p:spPr>
          <a:xfrm>
            <a:off x="8400830" y="3253978"/>
            <a:ext cx="2947087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0F6FC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Latency Issues</a:t>
            </a:r>
            <a:endParaRPr lang="en-US" sz="1800" b="1" i="0" u="none" strike="noStrike" cap="none">
              <a:solidFill>
                <a:srgbClr val="F0F6FC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139" name="Google Shape;139;p16"/>
          <p:cNvSpPr txBox="1"/>
          <p:nvPr/>
        </p:nvSpPr>
        <p:spPr>
          <a:xfrm>
            <a:off x="8470999" y="3739753"/>
            <a:ext cx="2806749" cy="1340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8B949E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Long computation times hinder real-time authentication and data transmission.</a:t>
            </a:r>
            <a:endParaRPr lang="en-US" sz="1650" b="0" i="0" u="none" strike="noStrike" cap="none">
              <a:solidFill>
                <a:srgbClr val="8B949E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pic>
        <p:nvPicPr>
          <p:cNvPr id="140" name="Google Shape;140;p16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2079575" y="2472928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6" descr="image.png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5886450" y="2472928"/>
            <a:ext cx="4191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6" descr="image.png"/>
          <p:cNvPicPr preferRelativeResize="0"/>
          <p:nvPr/>
        </p:nvPicPr>
        <p:blipFill rotWithShape="1">
          <a:blip r:embed="rId7"/>
          <a:srcRect/>
          <a:stretch>
            <a:fillRect/>
          </a:stretch>
        </p:blipFill>
        <p:spPr>
          <a:xfrm>
            <a:off x="9636174" y="2472928"/>
            <a:ext cx="476250" cy="47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17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7"/>
          <p:cNvSpPr txBox="1"/>
          <p:nvPr/>
        </p:nvSpPr>
        <p:spPr>
          <a:xfrm>
            <a:off x="809625" y="571500"/>
            <a:ext cx="11351418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0F6FC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CURRENT STATE OF PQC</a:t>
            </a:r>
            <a:endParaRPr lang="en-US" sz="3150" b="1" i="0" u="none" strike="noStrike" cap="none">
              <a:solidFill>
                <a:srgbClr val="F0F6FC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149" name="Google Shape;149;p17"/>
          <p:cNvSpPr/>
          <p:nvPr/>
        </p:nvSpPr>
        <p:spPr>
          <a:xfrm>
            <a:off x="571500" y="571500"/>
            <a:ext cx="57150" cy="485775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50" name="Google Shape;150;p17"/>
          <p:cNvSpPr txBox="1"/>
          <p:nvPr/>
        </p:nvSpPr>
        <p:spPr>
          <a:xfrm>
            <a:off x="952500" y="2887265"/>
            <a:ext cx="106680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58A6FF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CRYSTALS-Kyber:</a:t>
            </a:r>
            <a:r>
              <a:rPr lang="en-US" sz="1650" b="0" i="0" u="none" strike="noStrike" cap="none">
                <a:solidFill>
                  <a:srgbClr val="8B949E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 Lattice-based Key Encapsulation (KEM). Secure and fast but has large public key sizes for IoT.</a:t>
            </a:r>
            <a:endParaRPr lang="en-US" sz="1650" b="0" i="0" u="none" strike="noStrike" cap="none">
              <a:solidFill>
                <a:srgbClr val="8B949E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151" name="Google Shape;151;p17"/>
          <p:cNvSpPr txBox="1"/>
          <p:nvPr/>
        </p:nvSpPr>
        <p:spPr>
          <a:xfrm>
            <a:off x="952500" y="3412926"/>
            <a:ext cx="106680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58A6FF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CRYSTALS-Dilithium:</a:t>
            </a:r>
            <a:r>
              <a:rPr lang="en-US" sz="1650" b="0" i="0" u="none" strike="noStrike" cap="none">
                <a:solidFill>
                  <a:srgbClr val="8B949E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 Lattice-based digital signatures. High security but significant memory footprint.</a:t>
            </a:r>
            <a:endParaRPr lang="en-US" sz="1650" b="0" i="0" u="none" strike="noStrike" cap="none">
              <a:solidFill>
                <a:srgbClr val="8B949E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152" name="Google Shape;152;p17"/>
          <p:cNvSpPr txBox="1"/>
          <p:nvPr/>
        </p:nvSpPr>
        <p:spPr>
          <a:xfrm>
            <a:off x="952500" y="3938587"/>
            <a:ext cx="106680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58A6FF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SPHINCS+:</a:t>
            </a:r>
            <a:r>
              <a:rPr lang="en-US" sz="1650" b="0" i="0" u="none" strike="noStrike" cap="none">
                <a:solidFill>
                  <a:srgbClr val="8B949E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 Hash-based signature scheme. Extremely robust against cryptanalysis but notoriously slow computation.</a:t>
            </a:r>
            <a:endParaRPr lang="en-US" sz="1650" b="0" i="0" u="none" strike="noStrike" cap="none">
              <a:solidFill>
                <a:srgbClr val="8B949E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153" name="Google Shape;153;p17"/>
          <p:cNvSpPr txBox="1"/>
          <p:nvPr/>
        </p:nvSpPr>
        <p:spPr>
          <a:xfrm>
            <a:off x="952500" y="4464248"/>
            <a:ext cx="106680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58A6FF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The Gap:</a:t>
            </a:r>
            <a:r>
              <a:rPr lang="en-US" sz="1650" b="0" i="0" u="none" strike="noStrike" cap="none">
                <a:solidFill>
                  <a:srgbClr val="8B949E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 Existing FIPS standards focus on desktops/servers; IoT requires </a:t>
            </a:r>
            <a:r>
              <a:rPr lang="en-US" sz="1650" b="1" i="0" u="none" strike="noStrike" cap="none">
                <a:solidFill>
                  <a:srgbClr val="58A6FF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aggressive optimization</a:t>
            </a:r>
            <a:r>
              <a:rPr lang="en-US" sz="1650" b="0" i="0" u="none" strike="noStrike" cap="none">
                <a:solidFill>
                  <a:srgbClr val="8B949E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.</a:t>
            </a:r>
            <a:endParaRPr lang="en-US" sz="1650" b="0" i="0" u="none" strike="noStrike" cap="none">
              <a:solidFill>
                <a:srgbClr val="8B949E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pic>
        <p:nvPicPr>
          <p:cNvPr id="154" name="Google Shape;154;p17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71500" y="288726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7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71500" y="3412926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7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71500" y="393858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7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71500" y="4464248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18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8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71500" y="2536626"/>
            <a:ext cx="5334000" cy="26515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8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286500" y="2536626"/>
            <a:ext cx="5334000" cy="26515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8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895350" y="4245173"/>
            <a:ext cx="4714875" cy="55245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8"/>
          <p:cNvSpPr txBox="1"/>
          <p:nvPr/>
        </p:nvSpPr>
        <p:spPr>
          <a:xfrm>
            <a:off x="809625" y="571500"/>
            <a:ext cx="11351418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0F6FC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HYBRID LIGHTWEIGHT SCHEME</a:t>
            </a:r>
            <a:endParaRPr lang="en-US" sz="3150" b="1" i="0" u="none" strike="noStrike" cap="none">
              <a:solidFill>
                <a:srgbClr val="F0F6FC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167" name="Google Shape;167;p18"/>
          <p:cNvSpPr/>
          <p:nvPr/>
        </p:nvSpPr>
        <p:spPr>
          <a:xfrm>
            <a:off x="571500" y="571500"/>
            <a:ext cx="57150" cy="485775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68" name="Google Shape;168;p18"/>
          <p:cNvSpPr txBox="1"/>
          <p:nvPr/>
        </p:nvSpPr>
        <p:spPr>
          <a:xfrm>
            <a:off x="895350" y="2831901"/>
            <a:ext cx="4950618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58A6FF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Lattice-based KEM</a:t>
            </a:r>
            <a:endParaRPr lang="en-US" sz="2100" b="1" i="0" u="none" strike="noStrike" cap="none">
              <a:solidFill>
                <a:srgbClr val="58A6FF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169" name="Google Shape;169;p18"/>
          <p:cNvSpPr txBox="1"/>
          <p:nvPr/>
        </p:nvSpPr>
        <p:spPr>
          <a:xfrm>
            <a:off x="895350" y="3365301"/>
            <a:ext cx="471487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8B949E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Used for fast key exchange. Optimized parameters to reduce polynomial multiplication overhead.</a:t>
            </a:r>
            <a:endParaRPr lang="en-US" sz="1650" b="0" i="0" u="none" strike="noStrike" cap="none">
              <a:solidFill>
                <a:srgbClr val="8B949E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170" name="Google Shape;170;p18"/>
          <p:cNvSpPr txBox="1"/>
          <p:nvPr/>
        </p:nvSpPr>
        <p:spPr>
          <a:xfrm>
            <a:off x="6610350" y="2831901"/>
            <a:ext cx="4950618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58A6FF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Hash-based Signatures</a:t>
            </a:r>
            <a:endParaRPr lang="en-US" sz="2100" b="1" i="0" u="none" strike="noStrike" cap="none">
              <a:solidFill>
                <a:srgbClr val="58A6FF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171" name="Google Shape;171;p18"/>
          <p:cNvSpPr txBox="1"/>
          <p:nvPr/>
        </p:nvSpPr>
        <p:spPr>
          <a:xfrm>
            <a:off x="6610350" y="3365301"/>
            <a:ext cx="471487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8B949E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Stateless hash signatures for device authentication, using compressed Merkle trees to save RAM.</a:t>
            </a:r>
            <a:endParaRPr lang="en-US" sz="1650" b="0" i="0" u="none" strike="noStrike" cap="none">
              <a:solidFill>
                <a:srgbClr val="8B949E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pic>
        <p:nvPicPr>
          <p:cNvPr id="172" name="Google Shape;172;p18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1095375" y="4445198"/>
            <a:ext cx="4314825" cy="15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p19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9"/>
          <p:cNvSpPr txBox="1"/>
          <p:nvPr/>
        </p:nvSpPr>
        <p:spPr>
          <a:xfrm>
            <a:off x="809625" y="571500"/>
            <a:ext cx="4950618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0F6FC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ARCHITECTURE</a:t>
            </a:r>
            <a:endParaRPr lang="en-US" sz="3150" b="1" i="0" u="none" strike="noStrike" cap="none">
              <a:solidFill>
                <a:srgbClr val="F0F6FC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179" name="Google Shape;179;p19"/>
          <p:cNvSpPr/>
          <p:nvPr/>
        </p:nvSpPr>
        <p:spPr>
          <a:xfrm>
            <a:off x="571500" y="571500"/>
            <a:ext cx="57150" cy="485775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81" name="Google Shape;181;p19"/>
          <p:cNvSpPr txBox="1"/>
          <p:nvPr/>
        </p:nvSpPr>
        <p:spPr>
          <a:xfrm>
            <a:off x="952500" y="2216943"/>
            <a:ext cx="457200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58A6FF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IoT Node:</a:t>
            </a:r>
            <a:r>
              <a:rPr lang="en-US" sz="1650" b="0" i="0" u="none" strike="noStrike" cap="none">
                <a:solidFill>
                  <a:srgbClr val="8B949E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 Executes lightweight PQC module on-chip.</a:t>
            </a:r>
            <a:endParaRPr lang="en-US" sz="1650" b="0" i="0" u="none" strike="noStrike" cap="none">
              <a:solidFill>
                <a:srgbClr val="8B949E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182" name="Google Shape;182;p19"/>
          <p:cNvSpPr txBox="1"/>
          <p:nvPr/>
        </p:nvSpPr>
        <p:spPr>
          <a:xfrm>
            <a:off x="952500" y="3077765"/>
            <a:ext cx="457200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58A6FF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Key Encapsulation:</a:t>
            </a:r>
            <a:r>
              <a:rPr lang="en-US" sz="1650" b="0" i="0" u="none" strike="noStrike" cap="none">
                <a:solidFill>
                  <a:srgbClr val="8B949E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 Secure shared secret generation.</a:t>
            </a:r>
            <a:endParaRPr lang="en-US" sz="1650" b="0" i="0" u="none" strike="noStrike" cap="none">
              <a:solidFill>
                <a:srgbClr val="8B949E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183" name="Google Shape;183;p19"/>
          <p:cNvSpPr txBox="1"/>
          <p:nvPr/>
        </p:nvSpPr>
        <p:spPr>
          <a:xfrm>
            <a:off x="952500" y="3938587"/>
            <a:ext cx="457200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58A6FF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Dynamic Mode:</a:t>
            </a:r>
            <a:r>
              <a:rPr lang="en-US" sz="1650" b="0" i="0" u="none" strike="noStrike" cap="none">
                <a:solidFill>
                  <a:srgbClr val="8B949E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 Switches security levels based on battery (Energy-aware).</a:t>
            </a:r>
            <a:endParaRPr lang="en-US" sz="1650" b="0" i="0" u="none" strike="noStrike" cap="none">
              <a:solidFill>
                <a:srgbClr val="8B949E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184" name="Google Shape;184;p19"/>
          <p:cNvSpPr txBox="1"/>
          <p:nvPr/>
        </p:nvSpPr>
        <p:spPr>
          <a:xfrm>
            <a:off x="952500" y="4799409"/>
            <a:ext cx="457200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58A6FF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Auth Encryption:</a:t>
            </a:r>
            <a:r>
              <a:rPr lang="en-US" sz="1650" b="0" i="0" u="none" strike="noStrike" cap="none">
                <a:solidFill>
                  <a:srgbClr val="8B949E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 Integrated with AES-GCM for data protection.</a:t>
            </a:r>
            <a:endParaRPr lang="en-US" sz="1650" b="0" i="0" u="none" strike="noStrike" cap="none">
              <a:solidFill>
                <a:srgbClr val="8B949E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pic>
        <p:nvPicPr>
          <p:cNvPr id="185" name="Google Shape;185;p19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71500" y="2216943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9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71500" y="307776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9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71500" y="393858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9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71500" y="4799409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Google Shape;193;p20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0"/>
          <p:cNvSpPr txBox="1"/>
          <p:nvPr/>
        </p:nvSpPr>
        <p:spPr>
          <a:xfrm>
            <a:off x="809625" y="571500"/>
            <a:ext cx="11351418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0F6FC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EXPERIMENTAL METHODOLOGY</a:t>
            </a:r>
            <a:endParaRPr lang="en-US" sz="3150" b="1" i="0" u="none" strike="noStrike" cap="none">
              <a:solidFill>
                <a:srgbClr val="F0F6FC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195" name="Google Shape;195;p20"/>
          <p:cNvSpPr/>
          <p:nvPr/>
        </p:nvSpPr>
        <p:spPr>
          <a:xfrm>
            <a:off x="571500" y="571500"/>
            <a:ext cx="57150" cy="485775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96" name="Google Shape;196;p20"/>
          <p:cNvSpPr/>
          <p:nvPr/>
        </p:nvSpPr>
        <p:spPr>
          <a:xfrm>
            <a:off x="571500" y="2357437"/>
            <a:ext cx="11049000" cy="3009900"/>
          </a:xfrm>
          <a:prstGeom prst="roundRect">
            <a:avLst>
              <a:gd name="adj" fmla="val 0"/>
            </a:avLst>
          </a:prstGeom>
          <a:solidFill>
            <a:srgbClr val="161B22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graphicFrame>
        <p:nvGraphicFramePr>
          <p:cNvPr id="197" name="Google Shape;197;p20"/>
          <p:cNvGraphicFramePr/>
          <p:nvPr/>
        </p:nvGraphicFramePr>
        <p:xfrm>
          <a:off x="571500" y="2357437"/>
          <a:ext cx="11049000" cy="3009875"/>
        </p:xfrm>
        <a:graphic>
          <a:graphicData uri="http://schemas.openxmlformats.org/drawingml/2006/table">
            <a:tbl>
              <a:tblPr firstRow="1" bandRow="1">
                <a:noFill/>
                <a:tableStyleId>{D4C0DFF2-D55C-4E0C-A8B3-CC3F397FC56F}</a:tableStyleId>
              </a:tblPr>
              <a:tblGrid>
                <a:gridCol w="2870000"/>
                <a:gridCol w="3856355"/>
                <a:gridCol w="4322645"/>
              </a:tblGrid>
              <a:tr h="6019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58A6FF"/>
                          </a:solidFill>
                          <a:latin typeface="Urbanist" panose="020B0A04040200000203"/>
                          <a:ea typeface="Urbanist" panose="020B0A04040200000203"/>
                          <a:cs typeface="Urbanist" panose="020B0A04040200000203"/>
                          <a:sym typeface="Urbanist" panose="020B0A04040200000203"/>
                        </a:rPr>
                        <a:t>Phase</a:t>
                      </a:r>
                      <a:endParaRPr lang="en-US" sz="1500" b="1" i="0" u="none" strike="noStrike" cap="none">
                        <a:solidFill>
                          <a:srgbClr val="58A6FF"/>
                        </a:solidFill>
                        <a:latin typeface="Urbanist" panose="020B0A04040200000203"/>
                        <a:ea typeface="Urbanist" panose="020B0A04040200000203"/>
                        <a:cs typeface="Urbanist" panose="020B0A04040200000203"/>
                        <a:sym typeface="Urbanist" panose="020B0A04040200000203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58A6FF"/>
                          </a:solidFill>
                          <a:latin typeface="Urbanist" panose="020B0A04040200000203"/>
                          <a:ea typeface="Urbanist" panose="020B0A04040200000203"/>
                          <a:cs typeface="Urbanist" panose="020B0A04040200000203"/>
                          <a:sym typeface="Urbanist" panose="020B0A04040200000203"/>
                        </a:rPr>
                        <a:t>Tools / Platforms</a:t>
                      </a:r>
                      <a:endParaRPr lang="en-US" sz="1500" b="1" i="0" u="none" strike="noStrike" cap="none">
                        <a:solidFill>
                          <a:srgbClr val="58A6FF"/>
                        </a:solidFill>
                        <a:latin typeface="Urbanist" panose="020B0A04040200000203"/>
                        <a:ea typeface="Urbanist" panose="020B0A04040200000203"/>
                        <a:cs typeface="Urbanist" panose="020B0A04040200000203"/>
                        <a:sym typeface="Urbanist" panose="020B0A04040200000203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58A6FF"/>
                          </a:solidFill>
                          <a:latin typeface="Urbanist" panose="020B0A04040200000203"/>
                          <a:ea typeface="Urbanist" panose="020B0A04040200000203"/>
                          <a:cs typeface="Urbanist" panose="020B0A04040200000203"/>
                          <a:sym typeface="Urbanist" panose="020B0A04040200000203"/>
                        </a:rPr>
                        <a:t>Target Metrics</a:t>
                      </a:r>
                      <a:endParaRPr lang="en-US" sz="1500" b="1" i="0" u="none" strike="noStrike" cap="none">
                        <a:solidFill>
                          <a:srgbClr val="58A6FF"/>
                        </a:solidFill>
                        <a:latin typeface="Urbanist" panose="020B0A04040200000203"/>
                        <a:ea typeface="Urbanist" panose="020B0A04040200000203"/>
                        <a:cs typeface="Urbanist" panose="020B0A04040200000203"/>
                        <a:sym typeface="Urbanist" panose="020B0A04040200000203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1262D"/>
                    </a:solidFill>
                  </a:tcPr>
                </a:tc>
              </a:tr>
              <a:tr h="6019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chemeClr val="tx1"/>
                          </a:solidFill>
                          <a:latin typeface="Urbanist" panose="020B0A04040200000203"/>
                          <a:ea typeface="Urbanist" panose="020B0A04040200000203"/>
                          <a:cs typeface="Urbanist" panose="020B0A04040200000203"/>
                          <a:sym typeface="Urbanist" panose="020B0A04040200000203"/>
                        </a:rPr>
                        <a:t>Simulation</a:t>
                      </a:r>
                      <a:endParaRPr lang="en-US" sz="1350" b="1" i="0" u="none" strike="noStrike" cap="none">
                        <a:solidFill>
                          <a:schemeClr val="tx1"/>
                        </a:solidFill>
                        <a:latin typeface="Urbanist" panose="020B0A04040200000203"/>
                        <a:ea typeface="Urbanist" panose="020B0A04040200000203"/>
                        <a:cs typeface="Urbanist" panose="020B0A04040200000203"/>
                        <a:sym typeface="Urbanist" panose="020B0A04040200000203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chemeClr val="tx1"/>
                          </a:solidFill>
                          <a:latin typeface="Urbanist" panose="020B0A04040200000203"/>
                          <a:ea typeface="Urbanist" panose="020B0A04040200000203"/>
                          <a:cs typeface="Urbanist" panose="020B0A04040200000203"/>
                          <a:sym typeface="Urbanist" panose="020B0A04040200000203"/>
                        </a:rPr>
                        <a:t>Python, NumPy, Hashlib</a:t>
                      </a:r>
                      <a:endParaRPr lang="en-US" sz="1350" b="0" i="0" u="none" strike="noStrike" cap="none">
                        <a:solidFill>
                          <a:schemeClr val="tx1"/>
                        </a:solidFill>
                        <a:latin typeface="Urbanist" panose="020B0A04040200000203"/>
                        <a:ea typeface="Urbanist" panose="020B0A04040200000203"/>
                        <a:cs typeface="Urbanist" panose="020B0A04040200000203"/>
                        <a:sym typeface="Urbanist" panose="020B0A04040200000203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chemeClr val="tx1"/>
                          </a:solidFill>
                          <a:latin typeface="Urbanist" panose="020B0A04040200000203"/>
                          <a:ea typeface="Urbanist" panose="020B0A04040200000203"/>
                          <a:cs typeface="Urbanist" panose="020B0A04040200000203"/>
                          <a:sym typeface="Urbanist" panose="020B0A04040200000203"/>
                        </a:rPr>
                        <a:t>Mathematical validation &amp; Parameter tuning</a:t>
                      </a:r>
                      <a:endParaRPr lang="en-US" sz="1350" b="0" i="0" u="none" strike="noStrike" cap="none">
                        <a:solidFill>
                          <a:schemeClr val="tx1"/>
                        </a:solidFill>
                        <a:latin typeface="Urbanist" panose="020B0A04040200000203"/>
                        <a:ea typeface="Urbanist" panose="020B0A04040200000203"/>
                        <a:cs typeface="Urbanist" panose="020B0A04040200000203"/>
                        <a:sym typeface="Urbanist" panose="020B0A04040200000203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</a:tr>
              <a:tr h="6019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gradFill>
                            <a:gsLst>
                              <a:gs pos="50000">
                                <a:schemeClr val="tx1"/>
                              </a:gs>
                              <a:gs pos="0">
                                <a:schemeClr val="tx1">
                                  <a:lumMod val="25000"/>
                                  <a:lumOff val="7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</a:schemeClr>
                              </a:gs>
                            </a:gsLst>
                            <a:lin ang="5400000" scaled="1"/>
                          </a:gradFill>
                          <a:latin typeface="Urbanist" panose="020B0A04040200000203"/>
                          <a:ea typeface="Urbanist" panose="020B0A04040200000203"/>
                          <a:cs typeface="Urbanist" panose="020B0A04040200000203"/>
                          <a:sym typeface="Urbanist" panose="020B0A04040200000203"/>
                        </a:rPr>
                        <a:t>Embedded Benchmarking</a:t>
                      </a:r>
                      <a:endParaRPr lang="en-US" sz="1350" b="1" i="0" u="none" strike="noStrike" cap="none">
                        <a:gradFill>
                          <a:gsLst>
                            <a:gs pos="50000">
                              <a:schemeClr val="tx1"/>
                            </a:gs>
                            <a:gs pos="0">
                              <a:schemeClr val="tx1">
                                <a:lumMod val="25000"/>
                                <a:lumOff val="75000"/>
                              </a:schemeClr>
                            </a:gs>
                            <a:gs pos="100000">
                              <a:schemeClr val="tx1">
                                <a:lumMod val="85000"/>
                              </a:schemeClr>
                            </a:gs>
                          </a:gsLst>
                          <a:lin ang="5400000" scaled="1"/>
                        </a:gradFill>
                        <a:latin typeface="Urbanist" panose="020B0A04040200000203"/>
                        <a:ea typeface="Urbanist" panose="020B0A04040200000203"/>
                        <a:cs typeface="Urbanist" panose="020B0A04040200000203"/>
                        <a:sym typeface="Urbanist" panose="020B0A04040200000203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gradFill>
                            <a:gsLst>
                              <a:gs pos="50000">
                                <a:schemeClr val="tx1"/>
                              </a:gs>
                              <a:gs pos="0">
                                <a:schemeClr val="tx1">
                                  <a:lumMod val="25000"/>
                                  <a:lumOff val="7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</a:schemeClr>
                              </a:gs>
                            </a:gsLst>
                            <a:lin ang="5400000" scaled="1"/>
                          </a:gradFill>
                          <a:latin typeface="Urbanist" panose="020B0A04040200000203"/>
                          <a:ea typeface="Urbanist" panose="020B0A04040200000203"/>
                          <a:cs typeface="Urbanist" panose="020B0A04040200000203"/>
                          <a:sym typeface="Urbanist" panose="020B0A04040200000203"/>
                        </a:rPr>
                        <a:t>STM32 (Cortex-M4), ESP32</a:t>
                      </a:r>
                      <a:endParaRPr lang="en-US" sz="1350" b="0" i="0" u="none" strike="noStrike" cap="none">
                        <a:gradFill>
                          <a:gsLst>
                            <a:gs pos="50000">
                              <a:schemeClr val="tx1"/>
                            </a:gs>
                            <a:gs pos="0">
                              <a:schemeClr val="tx1">
                                <a:lumMod val="25000"/>
                                <a:lumOff val="75000"/>
                              </a:schemeClr>
                            </a:gs>
                            <a:gs pos="100000">
                              <a:schemeClr val="tx1">
                                <a:lumMod val="85000"/>
                              </a:schemeClr>
                            </a:gs>
                          </a:gsLst>
                          <a:lin ang="5400000" scaled="1"/>
                        </a:gradFill>
                        <a:latin typeface="Urbanist" panose="020B0A04040200000203"/>
                        <a:ea typeface="Urbanist" panose="020B0A04040200000203"/>
                        <a:cs typeface="Urbanist" panose="020B0A04040200000203"/>
                        <a:sym typeface="Urbanist" panose="020B0A04040200000203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gradFill>
                            <a:gsLst>
                              <a:gs pos="50000">
                                <a:schemeClr val="tx1"/>
                              </a:gs>
                              <a:gs pos="0">
                                <a:schemeClr val="tx1">
                                  <a:lumMod val="25000"/>
                                  <a:lumOff val="7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</a:schemeClr>
                              </a:gs>
                            </a:gsLst>
                            <a:lin ang="5400000" scaled="1"/>
                          </a:gradFill>
                          <a:latin typeface="Urbanist" panose="020B0A04040200000203"/>
                          <a:ea typeface="Urbanist" panose="020B0A04040200000203"/>
                          <a:cs typeface="Urbanist" panose="020B0A04040200000203"/>
                          <a:sym typeface="Urbanist" panose="020B0A04040200000203"/>
                        </a:rPr>
                        <a:t>lock cycles, RAM allocation, binary size</a:t>
                      </a:r>
                      <a:endParaRPr lang="en-US" sz="1350" b="0" i="0" u="none" strike="noStrike" cap="none">
                        <a:gradFill>
                          <a:gsLst>
                            <a:gs pos="50000">
                              <a:schemeClr val="tx1"/>
                            </a:gs>
                            <a:gs pos="0">
                              <a:schemeClr val="tx1">
                                <a:lumMod val="25000"/>
                                <a:lumOff val="75000"/>
                              </a:schemeClr>
                            </a:gs>
                            <a:gs pos="100000">
                              <a:schemeClr val="tx1">
                                <a:lumMod val="85000"/>
                              </a:schemeClr>
                            </a:gs>
                          </a:gsLst>
                          <a:lin ang="5400000" scaled="1"/>
                        </a:gradFill>
                        <a:latin typeface="Urbanist" panose="020B0A04040200000203"/>
                        <a:ea typeface="Urbanist" panose="020B0A04040200000203"/>
                        <a:cs typeface="Urbanist" panose="020B0A04040200000203"/>
                        <a:sym typeface="Urbanist" panose="020B0A04040200000203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</a:tr>
              <a:tr h="6019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gradFill>
                            <a:gsLst>
                              <a:gs pos="50000">
                                <a:schemeClr val="tx1"/>
                              </a:gs>
                              <a:gs pos="0">
                                <a:schemeClr val="tx1">
                                  <a:lumMod val="25000"/>
                                  <a:lumOff val="7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</a:schemeClr>
                              </a:gs>
                            </a:gsLst>
                            <a:lin ang="5400000" scaled="1"/>
                          </a:gradFill>
                          <a:latin typeface="Urbanist" panose="020B0A04040200000203"/>
                          <a:ea typeface="Urbanist" panose="020B0A04040200000203"/>
                          <a:cs typeface="Urbanist" panose="020B0A04040200000203"/>
                          <a:sym typeface="Urbanist" panose="020B0A04040200000203"/>
                        </a:rPr>
                        <a:t>Security Analysis</a:t>
                      </a:r>
                      <a:endParaRPr lang="en-US" sz="1350" b="1" i="0" u="none" strike="noStrike" cap="none">
                        <a:gradFill>
                          <a:gsLst>
                            <a:gs pos="50000">
                              <a:schemeClr val="tx1"/>
                            </a:gs>
                            <a:gs pos="0">
                              <a:schemeClr val="tx1">
                                <a:lumMod val="25000"/>
                                <a:lumOff val="75000"/>
                              </a:schemeClr>
                            </a:gs>
                            <a:gs pos="100000">
                              <a:schemeClr val="tx1">
                                <a:lumMod val="85000"/>
                              </a:schemeClr>
                            </a:gs>
                          </a:gsLst>
                          <a:lin ang="5400000" scaled="1"/>
                        </a:gradFill>
                        <a:latin typeface="Urbanist" panose="020B0A04040200000203"/>
                        <a:ea typeface="Urbanist" panose="020B0A04040200000203"/>
                        <a:cs typeface="Urbanist" panose="020B0A04040200000203"/>
                        <a:sym typeface="Urbanist" panose="020B0A04040200000203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gradFill>
                            <a:gsLst>
                              <a:gs pos="50000">
                                <a:schemeClr val="tx1"/>
                              </a:gs>
                              <a:gs pos="0">
                                <a:schemeClr val="tx1">
                                  <a:lumMod val="25000"/>
                                  <a:lumOff val="7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</a:schemeClr>
                              </a:gs>
                            </a:gsLst>
                            <a:lin ang="5400000" scaled="1"/>
                          </a:gradFill>
                          <a:latin typeface="Urbanist" panose="020B0A04040200000203"/>
                          <a:ea typeface="Urbanist" panose="020B0A04040200000203"/>
                          <a:cs typeface="Urbanist" panose="020B0A04040200000203"/>
                          <a:sym typeface="Urbanist" panose="020B0A04040200000203"/>
                        </a:rPr>
                        <a:t>BKZ Lattice Reduction, Grover Analysis</a:t>
                      </a:r>
                      <a:endParaRPr lang="en-US" sz="1350" b="0" i="0" u="none" strike="noStrike" cap="none">
                        <a:gradFill>
                          <a:gsLst>
                            <a:gs pos="50000">
                              <a:schemeClr val="tx1"/>
                            </a:gs>
                            <a:gs pos="0">
                              <a:schemeClr val="tx1">
                                <a:lumMod val="25000"/>
                                <a:lumOff val="75000"/>
                              </a:schemeClr>
                            </a:gs>
                            <a:gs pos="100000">
                              <a:schemeClr val="tx1">
                                <a:lumMod val="85000"/>
                              </a:schemeClr>
                            </a:gs>
                          </a:gsLst>
                          <a:lin ang="5400000" scaled="1"/>
                        </a:gradFill>
                        <a:latin typeface="Urbanist" panose="020B0A04040200000203"/>
                        <a:ea typeface="Urbanist" panose="020B0A04040200000203"/>
                        <a:cs typeface="Urbanist" panose="020B0A04040200000203"/>
                        <a:sym typeface="Urbanist" panose="020B0A04040200000203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gradFill>
                            <a:gsLst>
                              <a:gs pos="50000">
                                <a:schemeClr val="tx1"/>
                              </a:gs>
                              <a:gs pos="0">
                                <a:schemeClr val="tx1">
                                  <a:lumMod val="25000"/>
                                  <a:lumOff val="7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</a:schemeClr>
                              </a:gs>
                            </a:gsLst>
                            <a:lin ang="5400000" scaled="1"/>
                          </a:gradFill>
                          <a:latin typeface="Urbanist" panose="020B0A04040200000203"/>
                          <a:ea typeface="Urbanist" panose="020B0A04040200000203"/>
                          <a:cs typeface="Urbanist" panose="020B0A04040200000203"/>
                          <a:sym typeface="Urbanist" panose="020B0A04040200000203"/>
                        </a:rPr>
                        <a:t>NIST Security Level III verification</a:t>
                      </a:r>
                      <a:endParaRPr lang="en-US" sz="1350" b="0" i="0" u="none" strike="noStrike" cap="none">
                        <a:gradFill>
                          <a:gsLst>
                            <a:gs pos="50000">
                              <a:schemeClr val="tx1"/>
                            </a:gs>
                            <a:gs pos="0">
                              <a:schemeClr val="tx1">
                                <a:lumMod val="25000"/>
                                <a:lumOff val="75000"/>
                              </a:schemeClr>
                            </a:gs>
                            <a:gs pos="100000">
                              <a:schemeClr val="tx1">
                                <a:lumMod val="85000"/>
                              </a:schemeClr>
                            </a:gs>
                          </a:gsLst>
                          <a:lin ang="5400000" scaled="1"/>
                        </a:gradFill>
                        <a:latin typeface="Urbanist" panose="020B0A04040200000203"/>
                        <a:ea typeface="Urbanist" panose="020B0A04040200000203"/>
                        <a:cs typeface="Urbanist" panose="020B0A04040200000203"/>
                        <a:sym typeface="Urbanist" panose="020B0A04040200000203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</a:tr>
              <a:tr h="6019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gradFill>
                            <a:gsLst>
                              <a:gs pos="50000">
                                <a:schemeClr val="tx1"/>
                              </a:gs>
                              <a:gs pos="0">
                                <a:schemeClr val="tx1">
                                  <a:lumMod val="25000"/>
                                  <a:lumOff val="7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</a:schemeClr>
                              </a:gs>
                            </a:gsLst>
                            <a:lin ang="5400000" scaled="1"/>
                          </a:gradFill>
                          <a:latin typeface="Urbanist" panose="020B0A04040200000203"/>
                          <a:ea typeface="Urbanist" panose="020B0A04040200000203"/>
                          <a:cs typeface="Urbanist" panose="020B0A04040200000203"/>
                          <a:sym typeface="Urbanist" panose="020B0A04040200000203"/>
                        </a:rPr>
                        <a:t>Evaluation</a:t>
                      </a:r>
                      <a:endParaRPr lang="en-US" sz="1350" b="1" i="0" u="none" strike="noStrike" cap="none">
                        <a:gradFill>
                          <a:gsLst>
                            <a:gs pos="50000">
                              <a:schemeClr val="tx1"/>
                            </a:gs>
                            <a:gs pos="0">
                              <a:schemeClr val="tx1">
                                <a:lumMod val="25000"/>
                                <a:lumOff val="75000"/>
                              </a:schemeClr>
                            </a:gs>
                            <a:gs pos="100000">
                              <a:schemeClr val="tx1">
                                <a:lumMod val="85000"/>
                              </a:schemeClr>
                            </a:gs>
                          </a:gsLst>
                          <a:lin ang="5400000" scaled="1"/>
                        </a:gradFill>
                        <a:latin typeface="Urbanist" panose="020B0A04040200000203"/>
                        <a:ea typeface="Urbanist" panose="020B0A04040200000203"/>
                        <a:cs typeface="Urbanist" panose="020B0A04040200000203"/>
                        <a:sym typeface="Urbanist" panose="020B0A04040200000203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gradFill>
                            <a:gsLst>
                              <a:gs pos="50000">
                                <a:schemeClr val="tx1"/>
                              </a:gs>
                              <a:gs pos="0">
                                <a:schemeClr val="tx1">
                                  <a:lumMod val="25000"/>
                                  <a:lumOff val="7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</a:schemeClr>
                              </a:gs>
                            </a:gsLst>
                            <a:lin ang="5400000" scaled="1"/>
                          </a:gradFill>
                          <a:latin typeface="Urbanist" panose="020B0A04040200000203"/>
                          <a:ea typeface="Urbanist" panose="020B0A04040200000203"/>
                          <a:cs typeface="Urbanist" panose="020B0A04040200000203"/>
                          <a:sym typeface="Urbanist" panose="020B0A04040200000203"/>
                        </a:rPr>
                        <a:t>Power analyzer, Profiling hooks</a:t>
                      </a:r>
                      <a:endParaRPr lang="en-US" sz="1350" b="0" i="0" u="none" strike="noStrike" cap="none">
                        <a:gradFill>
                          <a:gsLst>
                            <a:gs pos="50000">
                              <a:schemeClr val="tx1"/>
                            </a:gs>
                            <a:gs pos="0">
                              <a:schemeClr val="tx1">
                                <a:lumMod val="25000"/>
                                <a:lumOff val="75000"/>
                              </a:schemeClr>
                            </a:gs>
                            <a:gs pos="100000">
                              <a:schemeClr val="tx1">
                                <a:lumMod val="85000"/>
                              </a:schemeClr>
                            </a:gs>
                          </a:gsLst>
                          <a:lin ang="5400000" scaled="1"/>
                        </a:gradFill>
                        <a:latin typeface="Urbanist" panose="020B0A04040200000203"/>
                        <a:ea typeface="Urbanist" panose="020B0A04040200000203"/>
                        <a:cs typeface="Urbanist" panose="020B0A04040200000203"/>
                        <a:sym typeface="Urbanist" panose="020B0A04040200000203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gradFill>
                            <a:gsLst>
                              <a:gs pos="50000">
                                <a:schemeClr val="tx1"/>
                              </a:gs>
                              <a:gs pos="0">
                                <a:schemeClr val="tx1">
                                  <a:lumMod val="25000"/>
                                  <a:lumOff val="7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</a:schemeClr>
                              </a:gs>
                            </a:gsLst>
                            <a:lin ang="5400000" scaled="1"/>
                          </a:gradFill>
                          <a:latin typeface="Urbanist" panose="020B0A04040200000203"/>
                          <a:ea typeface="Urbanist" panose="020B0A04040200000203"/>
                          <a:cs typeface="Urbanist" panose="020B0A04040200000203"/>
                          <a:sym typeface="Urbanist" panose="020B0A04040200000203"/>
                        </a:rPr>
                        <a:t>Memory (KB), Latency (ms), Energy (mJ)</a:t>
                      </a:r>
                      <a:endParaRPr lang="en-US" sz="1350" b="0" i="0" u="none" strike="noStrike" cap="none">
                        <a:gradFill>
                          <a:gsLst>
                            <a:gs pos="50000">
                              <a:schemeClr val="tx1"/>
                            </a:gs>
                            <a:gs pos="0">
                              <a:schemeClr val="tx1">
                                <a:lumMod val="25000"/>
                                <a:lumOff val="75000"/>
                              </a:schemeClr>
                            </a:gs>
                            <a:gs pos="100000">
                              <a:schemeClr val="tx1">
                                <a:lumMod val="85000"/>
                              </a:schemeClr>
                            </a:gs>
                          </a:gsLst>
                          <a:lin ang="5400000" scaled="1"/>
                        </a:gradFill>
                        <a:latin typeface="Urbanist" panose="020B0A04040200000203"/>
                        <a:ea typeface="Urbanist" panose="020B0A04040200000203"/>
                        <a:cs typeface="Urbanist" panose="020B0A04040200000203"/>
                        <a:sym typeface="Urbanist" panose="020B0A04040200000203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98" name="Google Shape;198;p20"/>
          <p:cNvSpPr/>
          <p:nvPr/>
        </p:nvSpPr>
        <p:spPr>
          <a:xfrm>
            <a:off x="571500" y="3552825"/>
            <a:ext cx="2870001" cy="9525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99" name="Google Shape;199;p20"/>
          <p:cNvSpPr/>
          <p:nvPr/>
        </p:nvSpPr>
        <p:spPr>
          <a:xfrm>
            <a:off x="3441501" y="3552825"/>
            <a:ext cx="3845569" cy="9525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00" name="Google Shape;200;p20"/>
          <p:cNvSpPr/>
          <p:nvPr/>
        </p:nvSpPr>
        <p:spPr>
          <a:xfrm>
            <a:off x="7287071" y="3552825"/>
            <a:ext cx="4333428" cy="9525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01" name="Google Shape;201;p20"/>
          <p:cNvSpPr/>
          <p:nvPr/>
        </p:nvSpPr>
        <p:spPr>
          <a:xfrm>
            <a:off x="571500" y="4152900"/>
            <a:ext cx="2870001" cy="9525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02" name="Google Shape;202;p20"/>
          <p:cNvSpPr/>
          <p:nvPr/>
        </p:nvSpPr>
        <p:spPr>
          <a:xfrm>
            <a:off x="3441501" y="4152900"/>
            <a:ext cx="3845569" cy="9525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03" name="Google Shape;203;p20"/>
          <p:cNvSpPr/>
          <p:nvPr/>
        </p:nvSpPr>
        <p:spPr>
          <a:xfrm>
            <a:off x="7287071" y="4152900"/>
            <a:ext cx="4333428" cy="9525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04" name="Google Shape;204;p20"/>
          <p:cNvSpPr/>
          <p:nvPr/>
        </p:nvSpPr>
        <p:spPr>
          <a:xfrm>
            <a:off x="571500" y="4752975"/>
            <a:ext cx="2870001" cy="9525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05" name="Google Shape;205;p20"/>
          <p:cNvSpPr/>
          <p:nvPr/>
        </p:nvSpPr>
        <p:spPr>
          <a:xfrm>
            <a:off x="3441501" y="4752975"/>
            <a:ext cx="3845569" cy="9525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06" name="Google Shape;206;p20"/>
          <p:cNvSpPr/>
          <p:nvPr/>
        </p:nvSpPr>
        <p:spPr>
          <a:xfrm>
            <a:off x="7287071" y="4752975"/>
            <a:ext cx="4333428" cy="9525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07" name="Google Shape;207;p20"/>
          <p:cNvSpPr/>
          <p:nvPr/>
        </p:nvSpPr>
        <p:spPr>
          <a:xfrm>
            <a:off x="571500" y="5353050"/>
            <a:ext cx="2870001" cy="9525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08" name="Google Shape;208;p20"/>
          <p:cNvSpPr/>
          <p:nvPr/>
        </p:nvSpPr>
        <p:spPr>
          <a:xfrm>
            <a:off x="3441501" y="5353050"/>
            <a:ext cx="3845569" cy="9525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09" name="Google Shape;209;p20"/>
          <p:cNvSpPr/>
          <p:nvPr/>
        </p:nvSpPr>
        <p:spPr>
          <a:xfrm>
            <a:off x="7287071" y="5353050"/>
            <a:ext cx="4333428" cy="9525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" name="Google Shape;214;p21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21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71500" y="2311896"/>
            <a:ext cx="3492549" cy="310098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21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4349799" y="2311896"/>
            <a:ext cx="3492549" cy="310098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21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8128099" y="2311896"/>
            <a:ext cx="3492549" cy="3100982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1"/>
          <p:cNvSpPr txBox="1"/>
          <p:nvPr/>
        </p:nvSpPr>
        <p:spPr>
          <a:xfrm>
            <a:off x="809625" y="571500"/>
            <a:ext cx="11351418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0F6FC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CORE OPTIMIZATIONS</a:t>
            </a:r>
            <a:endParaRPr lang="en-US" sz="3150" b="1" i="0" u="none" strike="noStrike" cap="none">
              <a:solidFill>
                <a:srgbClr val="F0F6FC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219" name="Google Shape;219;p21"/>
          <p:cNvSpPr/>
          <p:nvPr/>
        </p:nvSpPr>
        <p:spPr>
          <a:xfrm>
            <a:off x="571500" y="571500"/>
            <a:ext cx="57150" cy="485775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220" name="Google Shape;220;p21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2108150" y="2654796"/>
            <a:ext cx="41910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1"/>
          <p:cNvSpPr txBox="1"/>
          <p:nvPr/>
        </p:nvSpPr>
        <p:spPr>
          <a:xfrm>
            <a:off x="844231" y="3369171"/>
            <a:ext cx="2947087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0F6FC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Data Compression</a:t>
            </a:r>
            <a:endParaRPr lang="en-US" sz="1800" b="1" i="0" u="none" strike="noStrike" cap="none">
              <a:solidFill>
                <a:srgbClr val="F0F6FC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222" name="Google Shape;222;p21"/>
          <p:cNvSpPr txBox="1"/>
          <p:nvPr/>
        </p:nvSpPr>
        <p:spPr>
          <a:xfrm>
            <a:off x="914400" y="3854946"/>
            <a:ext cx="2806749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8B949E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Compressed public keys and dimensionality reduction of lattices.</a:t>
            </a:r>
            <a:endParaRPr lang="en-US" sz="1650" b="0" i="0" u="none" strike="noStrike" cap="none">
              <a:solidFill>
                <a:srgbClr val="8B949E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pic>
        <p:nvPicPr>
          <p:cNvPr id="223" name="Google Shape;223;p21" descr="image.png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5857875" y="2654796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1"/>
          <p:cNvSpPr txBox="1"/>
          <p:nvPr/>
        </p:nvSpPr>
        <p:spPr>
          <a:xfrm>
            <a:off x="4622530" y="3369171"/>
            <a:ext cx="2947087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0F6FC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Precomputed Tables</a:t>
            </a:r>
            <a:endParaRPr lang="en-US" sz="1800" b="1" i="0" u="none" strike="noStrike" cap="none">
              <a:solidFill>
                <a:srgbClr val="F0F6FC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225" name="Google Shape;225;p21"/>
          <p:cNvSpPr txBox="1"/>
          <p:nvPr/>
        </p:nvSpPr>
        <p:spPr>
          <a:xfrm>
            <a:off x="4692699" y="3854946"/>
            <a:ext cx="2806749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8B949E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Storing values for frequent NTT operations to save CPU cycles.</a:t>
            </a:r>
            <a:endParaRPr lang="en-US" sz="1650" b="0" i="0" u="none" strike="noStrike" cap="none">
              <a:solidFill>
                <a:srgbClr val="8B949E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pic>
        <p:nvPicPr>
          <p:cNvPr id="226" name="Google Shape;226;p21" descr="image.png"/>
          <p:cNvPicPr preferRelativeResize="0"/>
          <p:nvPr/>
        </p:nvPicPr>
        <p:blipFill rotWithShape="1">
          <a:blip r:embed="rId7"/>
          <a:srcRect/>
          <a:stretch>
            <a:fillRect/>
          </a:stretch>
        </p:blipFill>
        <p:spPr>
          <a:xfrm>
            <a:off x="9574262" y="2654796"/>
            <a:ext cx="600075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1"/>
          <p:cNvSpPr txBox="1"/>
          <p:nvPr/>
        </p:nvSpPr>
        <p:spPr>
          <a:xfrm>
            <a:off x="8400830" y="3369171"/>
            <a:ext cx="2947087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0F6FC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Loop Unrolling</a:t>
            </a:r>
            <a:endParaRPr lang="en-US" sz="1800" b="1" i="0" u="none" strike="noStrike" cap="none">
              <a:solidFill>
                <a:srgbClr val="F0F6FC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228" name="Google Shape;228;p21"/>
          <p:cNvSpPr txBox="1"/>
          <p:nvPr/>
        </p:nvSpPr>
        <p:spPr>
          <a:xfrm>
            <a:off x="8470999" y="3854946"/>
            <a:ext cx="2806749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8B949E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Manual C optimizations and low-memory data structures.</a:t>
            </a:r>
            <a:endParaRPr lang="en-US" sz="1650" b="0" i="0" u="none" strike="noStrike" cap="none">
              <a:solidFill>
                <a:srgbClr val="8B949E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3" name="Google Shape;233;p22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22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71500" y="1438275"/>
            <a:ext cx="11049000" cy="4848225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2"/>
          <p:cNvSpPr txBox="1"/>
          <p:nvPr/>
        </p:nvSpPr>
        <p:spPr>
          <a:xfrm>
            <a:off x="809625" y="571500"/>
            <a:ext cx="11351418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0F6FC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PERFORMANCE EVALUATION</a:t>
            </a:r>
            <a:endParaRPr lang="en-US" sz="3150" b="1" i="0" u="none" strike="noStrike" cap="none">
              <a:solidFill>
                <a:srgbClr val="F0F6FC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236" name="Google Shape;236;p22"/>
          <p:cNvSpPr/>
          <p:nvPr/>
        </p:nvSpPr>
        <p:spPr>
          <a:xfrm>
            <a:off x="571500" y="571500"/>
            <a:ext cx="57150" cy="485775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37" name="Google Shape;237;p22"/>
          <p:cNvSpPr txBox="1"/>
          <p:nvPr/>
        </p:nvSpPr>
        <p:spPr>
          <a:xfrm>
            <a:off x="571500" y="2170807"/>
            <a:ext cx="1160145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5" b="1" i="0" u="none" strike="noStrike" cap="none">
                <a:solidFill>
                  <a:srgbClr val="F0F6FC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Memory Usage Comparison (KB)</a:t>
            </a:r>
            <a:endParaRPr lang="en-US" sz="1405" b="1" i="0" u="none" strike="noStrike" cap="none">
              <a:solidFill>
                <a:srgbClr val="F0F6FC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238" name="Google Shape;238;p22"/>
          <p:cNvSpPr txBox="1"/>
          <p:nvPr/>
        </p:nvSpPr>
        <p:spPr>
          <a:xfrm>
            <a:off x="571500" y="5009257"/>
            <a:ext cx="110490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1" u="none" strike="noStrike" cap="none">
                <a:solidFill>
                  <a:srgbClr val="58A6FF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*Proposed scheme achieves ~70% reduction in memory compared to standard Kyber.</a:t>
            </a:r>
            <a:endParaRPr lang="en-US" sz="1650" b="0" i="1" u="none" strike="noStrike" cap="none">
              <a:solidFill>
                <a:srgbClr val="58A6FF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3" name="Google Shape;243;p23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3"/>
          <p:cNvSpPr txBox="1"/>
          <p:nvPr/>
        </p:nvSpPr>
        <p:spPr>
          <a:xfrm>
            <a:off x="809625" y="571500"/>
            <a:ext cx="11351418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0F6FC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CRITICAL RESULTS</a:t>
            </a:r>
            <a:endParaRPr lang="en-US" sz="3150" b="1" i="0" u="none" strike="noStrike" cap="none">
              <a:solidFill>
                <a:srgbClr val="F0F6FC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245" name="Google Shape;245;p23"/>
          <p:cNvSpPr/>
          <p:nvPr/>
        </p:nvSpPr>
        <p:spPr>
          <a:xfrm>
            <a:off x="571500" y="571500"/>
            <a:ext cx="57150" cy="485775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6" name="Google Shape;246;p23"/>
          <p:cNvSpPr txBox="1"/>
          <p:nvPr/>
        </p:nvSpPr>
        <p:spPr>
          <a:xfrm>
            <a:off x="1443037" y="2417564"/>
            <a:ext cx="2095500" cy="1419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58A6FF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18ms</a:t>
            </a:r>
            <a:r>
              <a:rPr lang="en-US" sz="1200" b="0" i="0" u="none" strike="noStrike" cap="none">
                <a:solidFill>
                  <a:srgbClr val="E6EDF3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 </a:t>
            </a:r>
            <a:r>
              <a:rPr lang="en-US" sz="1200" b="0" i="0" u="none" strike="noStrike" cap="none">
                <a:solidFill>
                  <a:srgbClr val="8B949E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Total Latency</a:t>
            </a:r>
            <a:endParaRPr lang="en-US" sz="1200" b="0" i="0" u="none" strike="noStrike" cap="none">
              <a:solidFill>
                <a:srgbClr val="8B949E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247" name="Google Shape;247;p23"/>
          <p:cNvSpPr txBox="1"/>
          <p:nvPr/>
        </p:nvSpPr>
        <p:spPr>
          <a:xfrm>
            <a:off x="5281612" y="2417564"/>
            <a:ext cx="2581275" cy="553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58A6FF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4.5mJ</a:t>
            </a:r>
            <a:r>
              <a:rPr lang="en-US" sz="1200" b="0" i="0" u="none" strike="noStrike" cap="none">
                <a:solidFill>
                  <a:srgbClr val="E6EDF3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 </a:t>
            </a:r>
            <a:endParaRPr lang="en-US" sz="1200" b="0" i="0" u="none" strike="noStrike" cap="none">
              <a:solidFill>
                <a:srgbClr val="E6EDF3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200" b="0" i="0" u="none" strike="noStrike" cap="none">
              <a:solidFill>
                <a:srgbClr val="8B949E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200" b="0" i="0" u="none" strike="noStrike" cap="none">
                <a:solidFill>
                  <a:srgbClr val="8B949E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Enargy per op</a:t>
            </a:r>
            <a:endParaRPr lang="en-US" altLang="en-US" sz="1200" b="0" i="0" u="none" strike="noStrike" cap="none">
              <a:solidFill>
                <a:srgbClr val="8B949E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248" name="Google Shape;248;p23"/>
          <p:cNvSpPr txBox="1"/>
          <p:nvPr/>
        </p:nvSpPr>
        <p:spPr>
          <a:xfrm>
            <a:off x="9605962" y="2417564"/>
            <a:ext cx="1143000" cy="1419225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58A6FF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III</a:t>
            </a:r>
            <a:r>
              <a:rPr lang="en-US" sz="1200" b="0" i="0" u="none" strike="noStrike" cap="none">
                <a:solidFill>
                  <a:srgbClr val="E6EDF3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 </a:t>
            </a:r>
            <a:r>
              <a:rPr lang="en-US" sz="1200" b="0" i="0" u="none" strike="noStrike" cap="none">
                <a:solidFill>
                  <a:srgbClr val="8B949E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NIST Level</a:t>
            </a:r>
            <a:endParaRPr lang="en-US" sz="1200" b="0" i="0" u="none" strike="noStrike" cap="none">
              <a:solidFill>
                <a:srgbClr val="8B949E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249" name="Google Shape;249;p23"/>
          <p:cNvSpPr txBox="1"/>
          <p:nvPr/>
        </p:nvSpPr>
        <p:spPr>
          <a:xfrm>
            <a:off x="571500" y="4427339"/>
            <a:ext cx="1104900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8B949E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Significant improvements for </a:t>
            </a:r>
            <a:r>
              <a:rPr lang="en-US" sz="1650" b="1" i="0" u="none" strike="noStrike" cap="none">
                <a:solidFill>
                  <a:srgbClr val="58A6FF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battery-powered IoT devices</a:t>
            </a:r>
            <a:r>
              <a:rPr lang="en-US" sz="1650" b="0" i="0" u="none" strike="noStrike" cap="none">
                <a:solidFill>
                  <a:srgbClr val="8B949E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. Scalability is maintained for large-scale sensor networks without sacrificing post-quantum resistance.</a:t>
            </a:r>
            <a:endParaRPr lang="en-US" sz="1650" b="0" i="0" u="none" strike="noStrike" cap="none">
              <a:solidFill>
                <a:srgbClr val="8B949E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4" name="Google Shape;254;p24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24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71500" y="1953666"/>
            <a:ext cx="11049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24"/>
          <p:cNvSpPr txBox="1"/>
          <p:nvPr/>
        </p:nvSpPr>
        <p:spPr>
          <a:xfrm>
            <a:off x="295275" y="3001416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50" b="1" i="0" u="none" strike="noStrike" cap="none">
                <a:solidFill>
                  <a:srgbClr val="F0F6FC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Final Conclusion</a:t>
            </a:r>
            <a:endParaRPr lang="en-US" sz="3750" b="1" i="0" u="none" strike="noStrike" cap="none">
              <a:solidFill>
                <a:srgbClr val="F0F6FC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257" name="Google Shape;257;p24"/>
          <p:cNvSpPr txBox="1"/>
          <p:nvPr/>
        </p:nvSpPr>
        <p:spPr>
          <a:xfrm>
            <a:off x="2286000" y="3715791"/>
            <a:ext cx="7620000" cy="1188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8B949E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The proposed hybrid scheme successfully brings </a:t>
            </a:r>
            <a:r>
              <a:rPr lang="en-US" sz="1950" b="1" i="0" u="none" strike="noStrike" cap="none">
                <a:solidFill>
                  <a:srgbClr val="58A6FF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Post-Quantum security to the edge</a:t>
            </a:r>
            <a:r>
              <a:rPr lang="en-US" sz="1950" b="0" i="0" u="none" strike="noStrike" cap="none">
                <a:solidFill>
                  <a:srgbClr val="8B949E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. By drastically reducing resource consumption, it enables long-term security for the future of the Internet of Things.</a:t>
            </a:r>
            <a:endParaRPr lang="en-US" sz="1950" b="0" i="0" u="none" strike="noStrike" cap="none">
              <a:solidFill>
                <a:srgbClr val="8B949E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2" name="Google Shape;262;p25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25"/>
          <p:cNvSpPr txBox="1"/>
          <p:nvPr/>
        </p:nvSpPr>
        <p:spPr>
          <a:xfrm>
            <a:off x="809625" y="571500"/>
            <a:ext cx="11351418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0F6FC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NEXT STEPS</a:t>
            </a:r>
            <a:endParaRPr lang="en-US" sz="3150" b="1" i="0" u="none" strike="noStrike" cap="none">
              <a:solidFill>
                <a:srgbClr val="F0F6FC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264" name="Google Shape;264;p25"/>
          <p:cNvSpPr/>
          <p:nvPr/>
        </p:nvSpPr>
        <p:spPr>
          <a:xfrm>
            <a:off x="571500" y="571500"/>
            <a:ext cx="57150" cy="485775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65" name="Google Shape;265;p25"/>
          <p:cNvSpPr/>
          <p:nvPr/>
        </p:nvSpPr>
        <p:spPr>
          <a:xfrm>
            <a:off x="571500" y="3351014"/>
            <a:ext cx="11049000" cy="3810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66" name="Google Shape;266;p25"/>
          <p:cNvSpPr/>
          <p:nvPr/>
        </p:nvSpPr>
        <p:spPr>
          <a:xfrm>
            <a:off x="1990725" y="3112889"/>
            <a:ext cx="476250" cy="476250"/>
          </a:xfrm>
          <a:prstGeom prst="roundRect">
            <a:avLst>
              <a:gd name="adj" fmla="val 50000"/>
            </a:avLst>
          </a:prstGeom>
          <a:solidFill>
            <a:srgbClr val="0D1117"/>
          </a:solidFill>
          <a:ln w="38100" cap="flat" cmpd="sng">
            <a:solidFill>
              <a:srgbClr val="58A6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67" name="Google Shape;267;p25"/>
          <p:cNvSpPr txBox="1"/>
          <p:nvPr/>
        </p:nvSpPr>
        <p:spPr>
          <a:xfrm>
            <a:off x="488632" y="3779639"/>
            <a:ext cx="348043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5" b="1" i="0" u="none" strike="noStrike" cap="none">
                <a:solidFill>
                  <a:srgbClr val="58A6FF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Hardware</a:t>
            </a:r>
            <a:endParaRPr lang="en-US" sz="1405" b="1" i="0" u="none" strike="noStrike" cap="none">
              <a:solidFill>
                <a:srgbClr val="58A6FF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268" name="Google Shape;268;p25"/>
          <p:cNvSpPr txBox="1"/>
          <p:nvPr/>
        </p:nvSpPr>
        <p:spPr>
          <a:xfrm>
            <a:off x="571500" y="4208264"/>
            <a:ext cx="331470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8B949E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FPGA / ASIC acceleration for even lower power consumption.</a:t>
            </a:r>
            <a:endParaRPr lang="en-US" sz="1650" b="0" i="0" u="none" strike="noStrike" cap="none">
              <a:solidFill>
                <a:srgbClr val="8B949E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269" name="Google Shape;269;p25"/>
          <p:cNvSpPr/>
          <p:nvPr/>
        </p:nvSpPr>
        <p:spPr>
          <a:xfrm>
            <a:off x="5857875" y="3112889"/>
            <a:ext cx="476250" cy="476250"/>
          </a:xfrm>
          <a:prstGeom prst="roundRect">
            <a:avLst>
              <a:gd name="adj" fmla="val 50000"/>
            </a:avLst>
          </a:prstGeom>
          <a:solidFill>
            <a:srgbClr val="0D1117"/>
          </a:solidFill>
          <a:ln w="38100" cap="flat" cmpd="sng">
            <a:solidFill>
              <a:srgbClr val="58A6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70" name="Google Shape;270;p25"/>
          <p:cNvSpPr txBox="1"/>
          <p:nvPr/>
        </p:nvSpPr>
        <p:spPr>
          <a:xfrm>
            <a:off x="4355782" y="3779639"/>
            <a:ext cx="348043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5" b="1" i="0" u="none" strike="noStrike" cap="none">
                <a:solidFill>
                  <a:srgbClr val="58A6FF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Integration</a:t>
            </a:r>
            <a:endParaRPr lang="en-US" sz="1405" b="1" i="0" u="none" strike="noStrike" cap="none">
              <a:solidFill>
                <a:srgbClr val="58A6FF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271" name="Google Shape;271;p25"/>
          <p:cNvSpPr txBox="1"/>
          <p:nvPr/>
        </p:nvSpPr>
        <p:spPr>
          <a:xfrm>
            <a:off x="4438650" y="4208264"/>
            <a:ext cx="331470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8B949E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MQTT and TLS 1.3 protocol integration for real clouds.</a:t>
            </a:r>
            <a:endParaRPr lang="en-US" sz="1650" b="0" i="0" u="none" strike="noStrike" cap="none">
              <a:solidFill>
                <a:srgbClr val="8B949E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272" name="Google Shape;272;p25"/>
          <p:cNvSpPr/>
          <p:nvPr/>
        </p:nvSpPr>
        <p:spPr>
          <a:xfrm>
            <a:off x="9725025" y="3112889"/>
            <a:ext cx="476250" cy="476250"/>
          </a:xfrm>
          <a:prstGeom prst="roundRect">
            <a:avLst>
              <a:gd name="adj" fmla="val 50000"/>
            </a:avLst>
          </a:prstGeom>
          <a:solidFill>
            <a:srgbClr val="0D1117"/>
          </a:solidFill>
          <a:ln w="38100" cap="flat" cmpd="sng">
            <a:solidFill>
              <a:srgbClr val="58A6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73" name="Google Shape;273;p25"/>
          <p:cNvSpPr txBox="1"/>
          <p:nvPr/>
        </p:nvSpPr>
        <p:spPr>
          <a:xfrm>
            <a:off x="8222932" y="3779639"/>
            <a:ext cx="348043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5" b="1" i="0" u="none" strike="noStrike" cap="none">
                <a:solidFill>
                  <a:srgbClr val="58A6FF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Testing</a:t>
            </a:r>
            <a:endParaRPr lang="en-US" sz="1405" b="1" i="0" u="none" strike="noStrike" cap="none">
              <a:solidFill>
                <a:srgbClr val="58A6FF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274" name="Google Shape;274;p25"/>
          <p:cNvSpPr txBox="1"/>
          <p:nvPr/>
        </p:nvSpPr>
        <p:spPr>
          <a:xfrm>
            <a:off x="8305800" y="4208264"/>
            <a:ext cx="331470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8B949E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Long-term field testing in smart city environments.</a:t>
            </a:r>
            <a:endParaRPr lang="en-US" sz="1650" b="0" i="0" u="none" strike="noStrike" cap="none">
              <a:solidFill>
                <a:srgbClr val="8B949E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9" name="Google Shape;279;p26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26"/>
          <p:cNvSpPr txBox="1"/>
          <p:nvPr/>
        </p:nvSpPr>
        <p:spPr>
          <a:xfrm>
            <a:off x="809625" y="571500"/>
            <a:ext cx="11351418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0F6FC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REFERENCES</a:t>
            </a:r>
            <a:endParaRPr lang="en-US" sz="3150" b="1" i="0" u="none" strike="noStrike" cap="none">
              <a:solidFill>
                <a:srgbClr val="F0F6FC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281" name="Google Shape;281;p26"/>
          <p:cNvSpPr/>
          <p:nvPr/>
        </p:nvSpPr>
        <p:spPr>
          <a:xfrm flipH="1">
            <a:off x="566420" y="571500"/>
            <a:ext cx="76200" cy="485775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82" name="Google Shape;282;p26"/>
          <p:cNvSpPr txBox="1"/>
          <p:nvPr/>
        </p:nvSpPr>
        <p:spPr>
          <a:xfrm>
            <a:off x="952500" y="2624435"/>
            <a:ext cx="106680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58A6FF"/>
                </a:solidFill>
                <a:latin typeface="JetBrains Mono" panose="02000009000000000000"/>
                <a:ea typeface="JetBrains Mono" panose="02000009000000000000"/>
                <a:cs typeface="JetBrains Mono" panose="02000009000000000000"/>
                <a:sym typeface="JetBrains Mono" panose="02000009000000000000"/>
              </a:rPr>
              <a:t>NIST FIPS 203:</a:t>
            </a:r>
            <a:r>
              <a:rPr lang="en-US" sz="1650" b="0" i="0" u="none" strike="noStrike" cap="none">
                <a:solidFill>
                  <a:srgbClr val="8B949E"/>
                </a:solidFill>
                <a:latin typeface="JetBrains Mono" panose="02000009000000000000"/>
                <a:ea typeface="JetBrains Mono" panose="02000009000000000000"/>
                <a:cs typeface="JetBrains Mono" panose="02000009000000000000"/>
                <a:sym typeface="JetBrains Mono" panose="02000009000000000000"/>
              </a:rPr>
              <a:t> Module-Lattice-Based Key-Encapsulation Mechanism Standard (ML-KEM).</a:t>
            </a:r>
            <a:endParaRPr lang="en-US" sz="1650" b="0" i="0" u="none" strike="noStrike" cap="none">
              <a:solidFill>
                <a:srgbClr val="8B949E"/>
              </a:solidFill>
              <a:latin typeface="JetBrains Mono" panose="02000009000000000000"/>
              <a:ea typeface="JetBrains Mono" panose="02000009000000000000"/>
              <a:cs typeface="JetBrains Mono" panose="02000009000000000000"/>
              <a:sym typeface="JetBrains Mono" panose="02000009000000000000"/>
            </a:endParaRPr>
          </a:p>
        </p:txBody>
      </p:sp>
      <p:sp>
        <p:nvSpPr>
          <p:cNvPr id="283" name="Google Shape;283;p26"/>
          <p:cNvSpPr txBox="1"/>
          <p:nvPr/>
        </p:nvSpPr>
        <p:spPr>
          <a:xfrm>
            <a:off x="952500" y="3150096"/>
            <a:ext cx="106680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58A6FF"/>
                </a:solidFill>
                <a:latin typeface="JetBrains Mono" panose="02000009000000000000"/>
                <a:ea typeface="JetBrains Mono" panose="02000009000000000000"/>
                <a:cs typeface="JetBrains Mono" panose="02000009000000000000"/>
                <a:sym typeface="JetBrains Mono" panose="02000009000000000000"/>
              </a:rPr>
              <a:t>NIST FIPS 204:</a:t>
            </a:r>
            <a:r>
              <a:rPr lang="en-US" sz="1650" b="0" i="0" u="none" strike="noStrike" cap="none">
                <a:solidFill>
                  <a:srgbClr val="8B949E"/>
                </a:solidFill>
                <a:latin typeface="JetBrains Mono" panose="02000009000000000000"/>
                <a:ea typeface="JetBrains Mono" panose="02000009000000000000"/>
                <a:cs typeface="JetBrains Mono" panose="02000009000000000000"/>
                <a:sym typeface="JetBrains Mono" panose="02000009000000000000"/>
              </a:rPr>
              <a:t> Module-Lattice-Based Digital Signature Standard (ML-DSA).</a:t>
            </a:r>
            <a:endParaRPr lang="en-US" sz="1650" b="0" i="0" u="none" strike="noStrike" cap="none">
              <a:solidFill>
                <a:srgbClr val="8B949E"/>
              </a:solidFill>
              <a:latin typeface="JetBrains Mono" panose="02000009000000000000"/>
              <a:ea typeface="JetBrains Mono" panose="02000009000000000000"/>
              <a:cs typeface="JetBrains Mono" panose="02000009000000000000"/>
              <a:sym typeface="JetBrains Mono" panose="02000009000000000000"/>
            </a:endParaRPr>
          </a:p>
        </p:txBody>
      </p:sp>
      <p:sp>
        <p:nvSpPr>
          <p:cNvPr id="284" name="Google Shape;284;p26"/>
          <p:cNvSpPr txBox="1"/>
          <p:nvPr/>
        </p:nvSpPr>
        <p:spPr>
          <a:xfrm>
            <a:off x="952500" y="3675757"/>
            <a:ext cx="106680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58A6FF"/>
                </a:solidFill>
                <a:latin typeface="JetBrains Mono" panose="02000009000000000000"/>
                <a:ea typeface="JetBrains Mono" panose="02000009000000000000"/>
                <a:cs typeface="JetBrains Mono" panose="02000009000000000000"/>
                <a:sym typeface="JetBrains Mono" panose="02000009000000000000"/>
              </a:rPr>
              <a:t>Schwabe et al. (2020):</a:t>
            </a:r>
            <a:r>
              <a:rPr lang="en-US" sz="1650" b="0" i="0" u="none" strike="noStrike" cap="none">
                <a:solidFill>
                  <a:srgbClr val="8B949E"/>
                </a:solidFill>
                <a:latin typeface="JetBrains Mono" panose="02000009000000000000"/>
                <a:ea typeface="JetBrains Mono" panose="02000009000000000000"/>
                <a:cs typeface="JetBrains Mono" panose="02000009000000000000"/>
                <a:sym typeface="JetBrains Mono" panose="02000009000000000000"/>
              </a:rPr>
              <a:t> CRYSTALS-Kyber: A Lattice-based KEM for Future Standards.</a:t>
            </a:r>
            <a:endParaRPr lang="en-US" sz="1650" b="0" i="0" u="none" strike="noStrike" cap="none">
              <a:solidFill>
                <a:srgbClr val="8B949E"/>
              </a:solidFill>
              <a:latin typeface="JetBrains Mono" panose="02000009000000000000"/>
              <a:ea typeface="JetBrains Mono" panose="02000009000000000000"/>
              <a:cs typeface="JetBrains Mono" panose="02000009000000000000"/>
              <a:sym typeface="JetBrains Mono" panose="02000009000000000000"/>
            </a:endParaRPr>
          </a:p>
        </p:txBody>
      </p:sp>
      <p:sp>
        <p:nvSpPr>
          <p:cNvPr id="285" name="Google Shape;285;p26"/>
          <p:cNvSpPr txBox="1"/>
          <p:nvPr/>
        </p:nvSpPr>
        <p:spPr>
          <a:xfrm>
            <a:off x="952500" y="4201417"/>
            <a:ext cx="106680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58A6FF"/>
                </a:solidFill>
                <a:latin typeface="JetBrains Mono" panose="02000009000000000000"/>
                <a:ea typeface="JetBrains Mono" panose="02000009000000000000"/>
                <a:cs typeface="JetBrains Mono" panose="02000009000000000000"/>
                <a:sym typeface="JetBrains Mono" panose="02000009000000000000"/>
              </a:rPr>
              <a:t>Lyubashevsky et al. (2022):</a:t>
            </a:r>
            <a:r>
              <a:rPr lang="en-US" sz="1650" b="0" i="0" u="none" strike="noStrike" cap="none">
                <a:solidFill>
                  <a:srgbClr val="8B949E"/>
                </a:solidFill>
                <a:latin typeface="JetBrains Mono" panose="02000009000000000000"/>
                <a:ea typeface="JetBrains Mono" panose="02000009000000000000"/>
                <a:cs typeface="JetBrains Mono" panose="02000009000000000000"/>
                <a:sym typeface="JetBrains Mono" panose="02000009000000000000"/>
              </a:rPr>
              <a:t> Dilithium: Post-quantum signatures for embedded systems.</a:t>
            </a:r>
            <a:endParaRPr lang="en-US" sz="1650" b="0" i="0" u="none" strike="noStrike" cap="none">
              <a:solidFill>
                <a:srgbClr val="8B949E"/>
              </a:solidFill>
              <a:latin typeface="JetBrains Mono" panose="02000009000000000000"/>
              <a:ea typeface="JetBrains Mono" panose="02000009000000000000"/>
              <a:cs typeface="JetBrains Mono" panose="02000009000000000000"/>
              <a:sym typeface="JetBrains Mono" panose="02000009000000000000"/>
            </a:endParaRPr>
          </a:p>
        </p:txBody>
      </p:sp>
      <p:sp>
        <p:nvSpPr>
          <p:cNvPr id="286" name="Google Shape;286;p26"/>
          <p:cNvSpPr txBox="1"/>
          <p:nvPr/>
        </p:nvSpPr>
        <p:spPr>
          <a:xfrm>
            <a:off x="952500" y="4727078"/>
            <a:ext cx="106680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58A6FF"/>
                </a:solidFill>
                <a:latin typeface="JetBrains Mono" panose="02000009000000000000"/>
                <a:ea typeface="JetBrains Mono" panose="02000009000000000000"/>
                <a:cs typeface="JetBrains Mono" panose="02000009000000000000"/>
                <a:sym typeface="JetBrains Mono" panose="02000009000000000000"/>
              </a:rPr>
              <a:t>Hamamreh, J. (Lectures):</a:t>
            </a:r>
            <a:r>
              <a:rPr lang="en-US" sz="1650" b="0" i="0" u="none" strike="noStrike" cap="none">
                <a:solidFill>
                  <a:srgbClr val="8B949E"/>
                </a:solidFill>
                <a:latin typeface="JetBrains Mono" panose="02000009000000000000"/>
                <a:ea typeface="JetBrains Mono" panose="02000009000000000000"/>
                <a:cs typeface="JetBrains Mono" panose="02000009000000000000"/>
                <a:sym typeface="JetBrains Mono" panose="02000009000000000000"/>
              </a:rPr>
              <a:t> Advanced Cryptography and Network Security Course Material.</a:t>
            </a:r>
            <a:endParaRPr lang="en-US" sz="1650" b="0" i="0" u="none" strike="noStrike" cap="none">
              <a:solidFill>
                <a:srgbClr val="8B949E"/>
              </a:solidFill>
              <a:latin typeface="JetBrains Mono" panose="02000009000000000000"/>
              <a:ea typeface="JetBrains Mono" panose="02000009000000000000"/>
              <a:cs typeface="JetBrains Mono" panose="02000009000000000000"/>
              <a:sym typeface="JetBrains Mono" panose="02000009000000000000"/>
            </a:endParaRPr>
          </a:p>
        </p:txBody>
      </p:sp>
      <p:pic>
        <p:nvPicPr>
          <p:cNvPr id="287" name="Google Shape;287;p26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71500" y="262507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26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71500" y="3150096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26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71500" y="367575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26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71500" y="420141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26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71500" y="4727078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" name="Google Shape;296;p27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27"/>
          <p:cNvSpPr txBox="1"/>
          <p:nvPr/>
        </p:nvSpPr>
        <p:spPr>
          <a:xfrm>
            <a:off x="809625" y="571500"/>
            <a:ext cx="11351418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0F6FC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IMAGE SOURCES</a:t>
            </a:r>
            <a:endParaRPr lang="en-US" sz="3150" b="1" i="0" u="none" strike="noStrike" cap="none">
              <a:solidFill>
                <a:srgbClr val="F0F6FC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298" name="Google Shape;298;p27"/>
          <p:cNvSpPr/>
          <p:nvPr/>
        </p:nvSpPr>
        <p:spPr>
          <a:xfrm>
            <a:off x="571500" y="571500"/>
            <a:ext cx="57150" cy="485775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99" name="Google Shape;299;p27"/>
          <p:cNvSpPr/>
          <p:nvPr/>
        </p:nvSpPr>
        <p:spPr>
          <a:xfrm>
            <a:off x="571500" y="2689919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00" name="Google Shape;300;p27"/>
          <p:cNvSpPr/>
          <p:nvPr/>
        </p:nvSpPr>
        <p:spPr>
          <a:xfrm>
            <a:off x="571500" y="3474690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01" name="Google Shape;301;p27"/>
          <p:cNvSpPr/>
          <p:nvPr/>
        </p:nvSpPr>
        <p:spPr>
          <a:xfrm>
            <a:off x="571500" y="346516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02" name="Google Shape;302;p27"/>
          <p:cNvSpPr/>
          <p:nvPr/>
        </p:nvSpPr>
        <p:spPr>
          <a:xfrm>
            <a:off x="571500" y="346516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03" name="Google Shape;303;p27"/>
          <p:cNvSpPr/>
          <p:nvPr/>
        </p:nvSpPr>
        <p:spPr>
          <a:xfrm>
            <a:off x="571500" y="424993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04" name="Google Shape;304;p27"/>
          <p:cNvSpPr/>
          <p:nvPr/>
        </p:nvSpPr>
        <p:spPr>
          <a:xfrm>
            <a:off x="571500" y="424993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305" name="Google Shape;305;p27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71500" y="283934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27"/>
          <p:cNvSpPr txBox="1"/>
          <p:nvPr/>
        </p:nvSpPr>
        <p:spPr>
          <a:xfrm>
            <a:off x="1666875" y="2832794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8B949E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https://cdn.localized.world/organizations/137/1ac29cae-62af-4517-8302-522dc6706a53.png</a:t>
            </a:r>
            <a:endParaRPr lang="en-US" sz="975" b="0" i="0" u="none" strike="noStrike" cap="none">
              <a:solidFill>
                <a:srgbClr val="8B949E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307" name="Google Shape;307;p27"/>
          <p:cNvSpPr txBox="1"/>
          <p:nvPr/>
        </p:nvSpPr>
        <p:spPr>
          <a:xfrm>
            <a:off x="1666875" y="3078509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8B949E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www.localized.world</a:t>
            </a:r>
            <a:endParaRPr lang="en-US" sz="1200" b="0" i="0" u="none" strike="noStrike" cap="none">
              <a:solidFill>
                <a:srgbClr val="4F46E5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pic>
        <p:nvPicPr>
          <p:cNvPr id="308" name="Google Shape;308;p27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571500" y="3624113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27"/>
          <p:cNvSpPr txBox="1"/>
          <p:nvPr/>
        </p:nvSpPr>
        <p:spPr>
          <a:xfrm>
            <a:off x="1666875" y="3617565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8B949E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https://static.vecteezy.com/system/resources/previews/043/522/339/non_2x/a-set-of-10-mix-icons-as-artificial-intelligence-quantum-computing-computing-blockchain-vector.jpg</a:t>
            </a:r>
            <a:endParaRPr lang="en-US" sz="975" b="0" i="0" u="none" strike="noStrike" cap="none">
              <a:solidFill>
                <a:srgbClr val="8B949E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310" name="Google Shape;310;p27"/>
          <p:cNvSpPr txBox="1"/>
          <p:nvPr/>
        </p:nvSpPr>
        <p:spPr>
          <a:xfrm>
            <a:off x="1666875" y="3863280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8B949E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www.vecteezy.com</a:t>
            </a:r>
            <a:endParaRPr lang="en-US" sz="1200" b="0" i="0" u="none" strike="noStrike" cap="none">
              <a:solidFill>
                <a:srgbClr val="4F46E5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pic>
        <p:nvPicPr>
          <p:cNvPr id="311" name="Google Shape;311;p27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571500" y="4408884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27"/>
          <p:cNvSpPr txBox="1"/>
          <p:nvPr/>
        </p:nvSpPr>
        <p:spPr>
          <a:xfrm>
            <a:off x="1666875" y="4402335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8B949E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https://www.mdpi.com/IoT/IoT-07-00017/article_deploy/html/images/IoT-07-00017-g001-550.jpg</a:t>
            </a:r>
            <a:endParaRPr lang="en-US" sz="975" b="0" i="0" u="none" strike="noStrike" cap="none">
              <a:solidFill>
                <a:srgbClr val="8B949E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313" name="Google Shape;313;p27"/>
          <p:cNvSpPr txBox="1"/>
          <p:nvPr/>
        </p:nvSpPr>
        <p:spPr>
          <a:xfrm>
            <a:off x="1666875" y="4648051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8B949E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www.mdpi.com</a:t>
            </a:r>
            <a:endParaRPr lang="en-US" sz="1200" b="0" i="0" u="none" strike="noStrike" cap="none">
              <a:solidFill>
                <a:srgbClr val="4F46E5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4531</Words>
  <Application>WPS Presentation</Application>
  <PresentationFormat/>
  <Paragraphs>196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6" baseType="lpstr">
      <vt:lpstr>Arial</vt:lpstr>
      <vt:lpstr>SimSun</vt:lpstr>
      <vt:lpstr>Wingdings</vt:lpstr>
      <vt:lpstr>Arial</vt:lpstr>
      <vt:lpstr>Calibri</vt:lpstr>
      <vt:lpstr>Urbanist</vt:lpstr>
      <vt:lpstr>Urbanist Medium</vt:lpstr>
      <vt:lpstr>JetBrains Mono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عاصم أحمد فلاح خضر</cp:lastModifiedBy>
  <cp:revision>1</cp:revision>
  <dcterms:created xsi:type="dcterms:W3CDTF">2026-04-16T12:34:11Z</dcterms:created>
  <dcterms:modified xsi:type="dcterms:W3CDTF">2026-04-16T12:34:13Z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1033-12.1.0.25830</vt:lpwstr>
  </property>
  <property fmtid="{D5CDD505-2E9C-101B-9397-08002B2CF9AE}" pid="3" name="ICV">
    <vt:lpwstr>8121131337CA48498580B1ADCB61BD43_12</vt:lpwstr>
  </property>
</Properties>
</file>