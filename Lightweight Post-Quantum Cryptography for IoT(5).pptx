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embeddedFontLst>
    <p:embeddedFont>
      <p:font typeface="Calibri" panose="020F0502020204030204"/>
      <p:regular r:id="rId22"/>
      <p:bold r:id="rId23"/>
      <p:italic r:id="rId24"/>
      <p:boldItalic r:id="rId25"/>
    </p:embeddedFont>
    <p:embeddedFont>
      <p:font typeface="Inter" panose="02000503000000020004"/>
      <p:regular r:id="rId26"/>
      <p:bold r:id="rId27"/>
      <p:italic r:id="rId28"/>
      <p:boldItalic r:id="rId29"/>
    </p:embeddedFont>
    <p:embeddedFont>
      <p:font typeface="Inter SemiBold" panose="02000503000000020004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35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34ACC5B-2480-4C1C-8BD0-982CC7A381D9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font" Target="fonts/font12.fntdata"/><Relationship Id="rId32" Type="http://schemas.openxmlformats.org/officeDocument/2006/relationships/font" Target="fonts/font11.fntdata"/><Relationship Id="rId31" Type="http://schemas.openxmlformats.org/officeDocument/2006/relationships/font" Target="fonts/font10.fntdata"/><Relationship Id="rId30" Type="http://schemas.openxmlformats.org/officeDocument/2006/relationships/font" Target="fonts/font9.fntdata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" name="Google Shape;91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9" name="Google Shape;129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4" name="Google Shape;144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6" name="Google Shape;156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0" name="Google Shape;170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9" name="Google Shape;189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2" name="Google Shape;222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1" name="Google Shape;241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0" name="Google Shape;250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5" name="Google Shape;265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3" name="Google Shape;293;p1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459355"/>
            <a:ext cx="10570845" cy="1661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Lightweight Post-Quantum Cryptography for IoT</a:t>
            </a:r>
            <a:endParaRPr lang="en-US" sz="4800" b="1" i="0" u="none" strike="noStrike" cap="none">
              <a:solidFill>
                <a:srgbClr val="10B98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334510"/>
            <a:ext cx="8572500" cy="98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Ensuring security against future quantum threats in resource-constrained environments.</a:t>
            </a:r>
            <a:endParaRPr lang="en-US" sz="18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571500" y="4120515"/>
            <a:ext cx="8260715" cy="914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5316855"/>
            <a:ext cx="8572500" cy="74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350" b="1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Prepared by</a:t>
            </a:r>
            <a:r>
              <a:rPr lang="en-US" sz="135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 Assem Ahmad, Omar Morsi, Yaser Anan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350" b="0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350" b="1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Instructor</a:t>
            </a:r>
            <a:r>
              <a:rPr lang="en-US" sz="135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: Dr. Jehad Hamamreh </a:t>
            </a:r>
            <a:endParaRPr lang="en-US" sz="1350">
              <a:solidFill>
                <a:srgbClr val="10B98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Course:</a:t>
            </a:r>
            <a:r>
              <a:rPr lang="en-US" sz="135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Cryptography and Network Security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lang="en-US" sz="1350" b="0" i="0" u="none" strike="noStrike" cap="none">
              <a:solidFill>
                <a:srgbClr val="10B98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92" name="Google Shape;92;p13" descr="image.png"/>
          <p:cNvPicPr preferRelativeResize="0"/>
          <p:nvPr/>
        </p:nvPicPr>
        <p:blipFill rotWithShape="1">
          <a:blip r:embed="rId2"/>
          <a:srcRect l="-917" r="917"/>
          <a:stretch>
            <a:fillRect/>
          </a:stretch>
        </p:blipFill>
        <p:spPr>
          <a:xfrm>
            <a:off x="5201285" y="461645"/>
            <a:ext cx="1737995" cy="1469390"/>
          </a:xfrm>
          <a:prstGeom prst="rect">
            <a:avLst/>
          </a:prstGeom>
          <a:noFill/>
          <a:ln>
            <a:noFill/>
          </a:ln>
        </p:spPr>
      </p:pic>
      <p:sp>
        <p:nvSpPr>
          <p:cNvPr id="1" name="Text Box 0"/>
          <p:cNvSpPr txBox="1"/>
          <p:nvPr/>
        </p:nvSpPr>
        <p:spPr>
          <a:xfrm>
            <a:off x="3152140" y="2045970"/>
            <a:ext cx="6096000" cy="299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350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                                 An-Najah National University</a:t>
            </a:r>
            <a:endParaRPr lang="en-US" sz="1350">
              <a:solidFill>
                <a:srgbClr val="10B98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133600"/>
            <a:ext cx="5334000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86500" y="2133600"/>
            <a:ext cx="5334000" cy="34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Project Overview</a:t>
            </a:r>
            <a:endParaRPr lang="en-US" sz="3150" b="0" i="0" u="none" strike="noStrike" cap="none">
              <a:solidFill>
                <a:srgbClr val="38BDF8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2524125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Project Idea</a:t>
            </a:r>
            <a:endParaRPr lang="en-US" sz="2100" b="0" i="0" u="none" strike="noStrike" cap="none">
              <a:solidFill>
                <a:srgbClr val="10B981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2990850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We propose a hybrid lightweight PQC scheme specifically engineered for the IoT ecosystem.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677025" y="2524125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Why It Matters</a:t>
            </a:r>
            <a:endParaRPr lang="en-US" sz="2100" b="0" i="0" u="none" strike="noStrike" cap="none">
              <a:solidFill>
                <a:srgbClr val="10B981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677025" y="2990850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Standard cryptographic algorithms (RSA/ECC) are vulnerable to Shor's algorithm on quantum computers.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677025" y="4048125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IoT devices control critical infrastructure—from healthcare to smart cities—but lack the resources for heavy standard PQC.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390650" y="3743325"/>
            <a:ext cx="41243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Strong security against quantum attacks</a:t>
            </a:r>
            <a:endParaRPr lang="en-US" sz="16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390650" y="4229100"/>
            <a:ext cx="41243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Optimized for limited memory and CPU</a:t>
            </a:r>
            <a:endParaRPr lang="en-US" sz="16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1390650" y="4714875"/>
            <a:ext cx="41243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Low power and energy consumption</a:t>
            </a:r>
            <a:endParaRPr lang="en-US" sz="16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37814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62025" y="42672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62025" y="4752975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86500" y="2114550"/>
            <a:ext cx="5334000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Background &amp; The Quantum Threat</a:t>
            </a:r>
            <a:endParaRPr lang="en-US" sz="3150" b="0" i="0" u="none" strike="noStrike" cap="none">
              <a:solidFill>
                <a:srgbClr val="38BDF8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2114550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IoT Challenges</a:t>
            </a:r>
            <a:endParaRPr lang="en-US" sz="2100" b="0" i="0" u="none" strike="noStrike" cap="none">
              <a:solidFill>
                <a:srgbClr val="10B981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408622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The Shor Threat</a:t>
            </a:r>
            <a:endParaRPr lang="en-US" sz="2100" b="0" i="0" u="none" strike="noStrike" cap="none">
              <a:solidFill>
                <a:srgbClr val="10B981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4552950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Quantum computers can solve integer factorization and discrete logs in polynomial time, rendering current systems obsolete.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96025" y="2124075"/>
            <a:ext cx="5314950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1000125" y="2581275"/>
            <a:ext cx="49053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Low RAM &amp; storage footprint</a:t>
            </a:r>
            <a:endParaRPr lang="en-US" sz="16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1000125" y="3067050"/>
            <a:ext cx="49053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Restricted battery capacity</a:t>
            </a:r>
            <a:endParaRPr lang="en-US" sz="16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1000125" y="3552825"/>
            <a:ext cx="49053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Minimal processing frequency</a:t>
            </a:r>
            <a:endParaRPr lang="en-US" sz="16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261937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31051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71500" y="359092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Problem Statement</a:t>
            </a:r>
            <a:endParaRPr lang="en-US" sz="3150" b="0" i="0" u="none" strike="noStrike" cap="none">
              <a:solidFill>
                <a:srgbClr val="38BDF8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2238375" y="2395537"/>
            <a:ext cx="81438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Quantum Vulnerability: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Existing IoT security relies on ECC/RSA, which are not quantum-safe.</a:t>
            </a:r>
            <a:endParaRPr lang="en-US" sz="16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2238375" y="3128962"/>
            <a:ext cx="81438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Resource Constraints: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Standard PQC (like full Kyber) is often too heavy for 8-bit or 32-bit microcontrollers.</a:t>
            </a:r>
            <a:endParaRPr lang="en-US" sz="16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2238375" y="3862387"/>
            <a:ext cx="81438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Performance Overhead: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Large keys and heavy computations lead to high latency and rapid battery drain.</a:t>
            </a:r>
            <a:endParaRPr lang="en-US" sz="16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2238375" y="4595812"/>
            <a:ext cx="81438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Challenge: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Finding the "Sweet Spot" between high security and low resource consumption.</a:t>
            </a:r>
            <a:endParaRPr lang="en-US" sz="16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809750" y="24336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809750" y="31670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809750" y="39004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809750" y="4633912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State-of-the-Art PQC</a:t>
            </a:r>
            <a:endParaRPr lang="en-US" sz="3150" b="0" i="0" u="none" strike="noStrike" cap="none">
              <a:solidFill>
                <a:srgbClr val="38BDF8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149" name="Google Shape;149;p17"/>
          <p:cNvGraphicFramePr/>
          <p:nvPr/>
        </p:nvGraphicFramePr>
        <p:xfrm>
          <a:off x="466725" y="2454592"/>
          <a:ext cx="11153775" cy="2860040"/>
        </p:xfrm>
        <a:graphic>
          <a:graphicData uri="http://schemas.openxmlformats.org/drawingml/2006/table">
            <a:tbl>
              <a:tblPr firstRow="1" bandRow="1">
                <a:noFill/>
                <a:tableStyleId>{A34ACC5B-2480-4C1C-8BD0-982CC7A381D9}</a:tableStyleId>
              </a:tblPr>
              <a:tblGrid>
                <a:gridCol w="2761615"/>
                <a:gridCol w="2836545"/>
                <a:gridCol w="2215515"/>
                <a:gridCol w="3339915"/>
              </a:tblGrid>
              <a:tr h="721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8BDF8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                     Algorithm</a:t>
                      </a:r>
                      <a:endParaRPr lang="en-US" sz="1350" b="1" i="0" u="none" strike="noStrike" cap="none">
                        <a:solidFill>
                          <a:srgbClr val="38BDF8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8BDF8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                       Type</a:t>
                      </a:r>
                      <a:endParaRPr lang="en-US" sz="1350" b="1" i="0" u="none" strike="noStrike" cap="none">
                        <a:solidFill>
                          <a:srgbClr val="38BDF8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8BDF8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            IoT Suitability</a:t>
                      </a:r>
                      <a:endParaRPr lang="en-US" sz="1350" b="1" i="0" u="none" strike="noStrike" cap="none">
                        <a:solidFill>
                          <a:srgbClr val="38BDF8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8BDF8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                         Key Issue</a:t>
                      </a:r>
                      <a:endParaRPr lang="en-US" sz="1350" b="1" i="0" u="none" strike="noStrike" cap="none">
                        <a:solidFill>
                          <a:srgbClr val="38BDF8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721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  CRYSTALS</a:t>
                      </a:r>
                      <a:r>
                        <a:rPr lang="en-US" sz="1500" b="0" i="0" u="none" strike="noStrike" cap="none">
                          <a:solidFill>
                            <a:srgbClr val="F8FAFC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-Kyber</a:t>
                      </a:r>
                      <a:endParaRPr lang="en-US" sz="1500" b="0" i="0" u="none" strike="noStrike" cap="none">
                        <a:solidFill>
                          <a:srgbClr val="F8FAFC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8FAFC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Lattice-</a:t>
                      </a: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Based </a:t>
                      </a:r>
                      <a:r>
                        <a:rPr lang="en-US" sz="1500" b="0" i="0" u="none" strike="noStrike" cap="none">
                          <a:solidFill>
                            <a:srgbClr val="F8FAFC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KEM</a:t>
                      </a:r>
                      <a:endParaRPr lang="en-US" sz="1500" b="0" i="0" u="none" strike="noStrike" cap="none">
                        <a:solidFill>
                          <a:srgbClr val="F8FAFC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  Moderate</a:t>
                      </a:r>
                      <a:endParaRPr lang="en-US" sz="1500" b="0" i="0" u="none" strike="noStrike" cap="none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 Memory-heavy polynomials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  CRYSTALS</a:t>
                      </a:r>
                      <a:r>
                        <a:rPr lang="en-US" sz="1500" b="0" i="0" u="none" strike="noStrike" cap="none">
                          <a:solidFill>
                            <a:srgbClr val="F8FAFC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-</a:t>
                      </a: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Dilithium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  Lattice Signature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  Low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 Large </a:t>
                      </a:r>
                      <a:r>
                        <a:rPr lang="en-US" sz="1500" b="0" i="0" u="none" strike="noStrike" cap="none">
                          <a:solidFill>
                            <a:srgbClr val="F8FAFC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public key sizes</a:t>
                      </a:r>
                      <a:endParaRPr lang="en-US" sz="1500" b="0" i="0" u="none" strike="noStrike" cap="none">
                        <a:solidFill>
                          <a:srgbClr val="F8FAFC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721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  SPHINCS+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  Hash-Based Signature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  Low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 High computational latency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0" name="Google Shape;150;p17"/>
          <p:cNvSpPr txBox="1"/>
          <p:nvPr/>
        </p:nvSpPr>
        <p:spPr>
          <a:xfrm>
            <a:off x="571500" y="52244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Research Gap: Lack of integrated, highly-optimized schemes for constrained sensors.</a:t>
            </a:r>
            <a:endParaRPr lang="en-US" sz="1500" b="0" i="0" u="none" strike="noStrike" cap="none">
              <a:solidFill>
                <a:srgbClr val="10B98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333500" y="1957387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86500" y="3910012"/>
            <a:ext cx="53340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Our Hybrid Approach</a:t>
            </a:r>
            <a:endParaRPr lang="en-US" sz="3150" b="0" i="0" u="none" strike="noStrike" cap="none">
              <a:solidFill>
                <a:srgbClr val="38BDF8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3" name="Google Shape;163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43025" y="1966912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6286500" y="2643187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Integrated PQC Module</a:t>
            </a:r>
            <a:endParaRPr lang="en-US" sz="2100" b="0" i="0" u="none" strike="noStrike" cap="none">
              <a:solidFill>
                <a:srgbClr val="10B981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6286500" y="3109912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 multi-layered defense combining lattice and hash-based primitives, optimized for embedded hardware.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6286500" y="4633912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Targets: STM32, ESP32, and Edge sensors.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67" name="Google Shape;167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477000" y="4100512"/>
            <a:ext cx="49530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066925"/>
            <a:ext cx="3492400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650" y="2066925"/>
            <a:ext cx="3492549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127950" y="2066925"/>
            <a:ext cx="3492400" cy="3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Core Components</a:t>
            </a:r>
            <a:endParaRPr lang="en-US" sz="3150" b="0" i="0" u="none" strike="noStrike" cap="none">
              <a:solidFill>
                <a:srgbClr val="38BDF8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8" name="Google Shape;178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17675" y="244792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884239" y="3143250"/>
            <a:ext cx="28669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Lattice Component</a:t>
            </a:r>
            <a:endParaRPr lang="en-US" sz="2100" b="0" i="0" u="none" strike="noStrike" cap="none">
              <a:solidFill>
                <a:srgbClr val="10B981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952500" y="3609975"/>
            <a:ext cx="27304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Derived from Kyber/Dilithium. Key exchange via polynomial operations with reduced dimensions and compressed keys.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81" name="Google Shape;181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895826" y="244792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4662387" y="3143250"/>
            <a:ext cx="286707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Hash Component</a:t>
            </a:r>
            <a:endParaRPr lang="en-US" sz="2100" b="0" i="0" u="none" strike="noStrike" cap="none">
              <a:solidFill>
                <a:srgbClr val="10B981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4730650" y="3609975"/>
            <a:ext cx="273054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Derived from SPHINCS+. Digital signatures using compressed Merkle trees and optimized hash iterations.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84" name="Google Shape;184;p19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616975" y="244792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8440690" y="3143250"/>
            <a:ext cx="28669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Authenticated Enc</a:t>
            </a:r>
            <a:endParaRPr lang="en-US" sz="2100" b="0" i="0" u="none" strike="noStrike" cap="none">
              <a:solidFill>
                <a:srgbClr val="10B981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8508950" y="3609975"/>
            <a:ext cx="2730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Ensures confidentiality and integrity post-key exchange using lightweight symmetric block ciphers.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7351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504950"/>
            <a:ext cx="9963785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762000" y="638175"/>
            <a:ext cx="50006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System Architecture</a:t>
            </a:r>
            <a:endParaRPr lang="en-US" sz="3150" b="0" i="0" u="none" strike="noStrike" cap="none">
              <a:solidFill>
                <a:srgbClr val="38BDF8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571500" y="638175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962025" y="1895475"/>
            <a:ext cx="438054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End-to-End Flow</a:t>
            </a:r>
            <a:endParaRPr lang="en-US" sz="2100" b="0" i="0" u="none" strike="noStrike" cap="none">
              <a:solidFill>
                <a:srgbClr val="10B981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962025" y="2362200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1. IoT Node initiates secure handshake.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962025" y="2809875"/>
            <a:ext cx="4171950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2. Lightweight Lattice KEM generates shared secret.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962025" y="3562350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3. Hash-based signature validates authenticity.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962025" y="4314825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4. Secure tunnel established for data streaming.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962025" y="5114925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Designed for seamless integration with ESP32 and STM32 ecosystems.</a:t>
            </a:r>
            <a:endParaRPr lang="en-US" sz="1500" b="0" i="0" u="none" strike="noStrike" cap="none">
              <a:solidFill>
                <a:srgbClr val="38BDF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138362"/>
            <a:ext cx="5334000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86500" y="2138362"/>
            <a:ext cx="5334000" cy="34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Methodology &amp; Implementation</a:t>
            </a:r>
            <a:endParaRPr lang="en-US" sz="3150" b="0" i="0" u="none" strike="noStrike" cap="none">
              <a:solidFill>
                <a:srgbClr val="38BDF8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962025" y="2528887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Implementation Details</a:t>
            </a:r>
            <a:endParaRPr lang="en-US" sz="2100" b="0" i="0" u="none" strike="noStrike" cap="none">
              <a:solidFill>
                <a:srgbClr val="10B981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6677025" y="2528887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Evaluation Metrics</a:t>
            </a:r>
            <a:endParaRPr lang="en-US" sz="2100" b="0" i="0" u="none" strike="noStrike" cap="none">
              <a:solidFill>
                <a:srgbClr val="10B981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1390650" y="2995612"/>
            <a:ext cx="41243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Language: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Python-based simulation with C-ready logic.</a:t>
            </a:r>
            <a:endParaRPr lang="en-US" sz="16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1390650" y="3729037"/>
            <a:ext cx="41243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Libraries: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NumPy for lattices, hashlib for SHA-256.</a:t>
            </a:r>
            <a:endParaRPr lang="en-US" sz="16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1390650" y="4462462"/>
            <a:ext cx="41243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Platforms: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Simulated STM32 &amp; ESP32 environments.</a:t>
            </a:r>
            <a:endParaRPr lang="en-US" sz="16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7105650" y="2995612"/>
            <a:ext cx="41243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Memory footprint (RAM/Flash)</a:t>
            </a:r>
            <a:endParaRPr lang="en-US" sz="16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7105650" y="3481387"/>
            <a:ext cx="41243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Execution time (ms)</a:t>
            </a:r>
            <a:endParaRPr lang="en-US" sz="16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7105650" y="3967162"/>
            <a:ext cx="41243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Energy consumption (mJ)</a:t>
            </a:r>
            <a:endParaRPr lang="en-US" sz="16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7105650" y="4452937"/>
            <a:ext cx="41243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Attack resistance (BKZ/Grover)</a:t>
            </a:r>
            <a:endParaRPr lang="en-US" sz="16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219325"/>
            <a:ext cx="3492400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650" y="2219325"/>
            <a:ext cx="3492549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7950" y="2219325"/>
            <a:ext cx="3492400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Optimization Techniques</a:t>
            </a:r>
            <a:endParaRPr lang="en-US" sz="3150" b="0" i="0" u="none" strike="noStrike" cap="none">
              <a:solidFill>
                <a:srgbClr val="38BDF8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30" name="Google Shape;230;p22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117675" y="260032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884239" y="3295650"/>
            <a:ext cx="28669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Data Compression</a:t>
            </a:r>
            <a:endParaRPr lang="en-US" sz="2100" b="0" i="0" u="none" strike="noStrike" cap="none">
              <a:solidFill>
                <a:srgbClr val="10B981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952500" y="3762375"/>
            <a:ext cx="2730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Dimensionality reduction in lattices and compressed Merkle trees for hash signatures.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33" name="Google Shape;233;p22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924401" y="2600325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 txBox="1"/>
          <p:nvPr/>
        </p:nvSpPr>
        <p:spPr>
          <a:xfrm>
            <a:off x="4662387" y="3295650"/>
            <a:ext cx="286707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Compute Speed</a:t>
            </a:r>
            <a:endParaRPr lang="en-US" sz="2100" b="0" i="0" u="none" strike="noStrike" cap="none">
              <a:solidFill>
                <a:srgbClr val="10B981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4730650" y="3762375"/>
            <a:ext cx="27305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Loop unrolling, precomputed tables, and low-memory data structures.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36" name="Google Shape;236;p22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9645550" y="26003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440690" y="3295650"/>
            <a:ext cx="28669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Energy Awareness</a:t>
            </a:r>
            <a:endParaRPr lang="en-US" sz="2100" b="0" i="0" u="none" strike="noStrike" cap="none">
              <a:solidFill>
                <a:srgbClr val="10B981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8508950" y="3762375"/>
            <a:ext cx="273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Energy-aware scheduling and mode switching for power preservation.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438275"/>
            <a:ext cx="1104900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Benchmarking Results</a:t>
            </a:r>
            <a:endParaRPr lang="en-US" sz="3150" b="0" i="0" u="none" strike="noStrike" cap="none">
              <a:solidFill>
                <a:srgbClr val="38BDF8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571500" y="49244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72% reduction in memory usage compared to baseline PQC implementations.</a:t>
            </a:r>
            <a:endParaRPr lang="en-US" sz="1500" b="0" i="1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929062"/>
            <a:ext cx="11049000" cy="15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Discussion &amp; Security Impact</a:t>
            </a:r>
            <a:endParaRPr lang="en-US" sz="3150" b="0" i="0" u="none" strike="noStrike" cap="none">
              <a:solidFill>
                <a:srgbClr val="38BDF8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6" name="Google Shape;256;p24"/>
          <p:cNvSpPr txBox="1"/>
          <p:nvPr/>
        </p:nvSpPr>
        <p:spPr>
          <a:xfrm>
            <a:off x="962025" y="4319587"/>
            <a:ext cx="10267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Our optimizations maintain strong post-quantum security while enabling deployment on devices previously deemed "too weak" for PQC. This supports long-term network security for expanding IoT infrastructures.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7" name="Google Shape;257;p24"/>
          <p:cNvSpPr txBox="1"/>
          <p:nvPr/>
        </p:nvSpPr>
        <p:spPr>
          <a:xfrm>
            <a:off x="571500" y="2262187"/>
            <a:ext cx="342900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III</a:t>
            </a:r>
            <a:endParaRPr lang="en-US" sz="6300" b="1" i="0" u="none" strike="noStrike" cap="none">
              <a:solidFill>
                <a:srgbClr val="38BDF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8" name="Google Shape;258;p24"/>
          <p:cNvSpPr txBox="1"/>
          <p:nvPr/>
        </p:nvSpPr>
        <p:spPr>
          <a:xfrm>
            <a:off x="571500" y="3319462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NIST Security Level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9" name="Google Shape;259;p24"/>
          <p:cNvSpPr txBox="1"/>
          <p:nvPr/>
        </p:nvSpPr>
        <p:spPr>
          <a:xfrm>
            <a:off x="4381500" y="2262187"/>
            <a:ext cx="342900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4.5</a:t>
            </a:r>
            <a:endParaRPr lang="en-US" sz="6300" b="1" i="0" u="none" strike="noStrike" cap="none">
              <a:solidFill>
                <a:srgbClr val="38BDF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60" name="Google Shape;260;p24"/>
          <p:cNvSpPr txBox="1"/>
          <p:nvPr/>
        </p:nvSpPr>
        <p:spPr>
          <a:xfrm>
            <a:off x="4381500" y="3319462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Energy Usage (mJ)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61" name="Google Shape;261;p24"/>
          <p:cNvSpPr txBox="1"/>
          <p:nvPr/>
        </p:nvSpPr>
        <p:spPr>
          <a:xfrm>
            <a:off x="8191500" y="2262187"/>
            <a:ext cx="342900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∞</a:t>
            </a:r>
            <a:endParaRPr lang="en-US" sz="6300" b="1" i="0" u="none" strike="noStrike" cap="none">
              <a:solidFill>
                <a:srgbClr val="38BDF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62" name="Google Shape;262;p24"/>
          <p:cNvSpPr txBox="1"/>
          <p:nvPr/>
        </p:nvSpPr>
        <p:spPr>
          <a:xfrm>
            <a:off x="8191500" y="3319462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Scalability Support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881312" y="4492823"/>
            <a:ext cx="6429375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4105751" y="1669702"/>
            <a:ext cx="3980497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Conclusion</a:t>
            </a:r>
            <a:endParaRPr lang="en-US" sz="5400" b="1" i="0" u="none" strike="noStrike" cap="none">
              <a:solidFill>
                <a:srgbClr val="10B98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2286000" y="2688877"/>
            <a:ext cx="762000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 practical, lightweight, and quantum-resistant solution ready for real-world IoT deployment. We've bridged the gap between cutting-edge security and hardware constraints.</a:t>
            </a:r>
            <a:endParaRPr lang="en-US" sz="2100" b="0" i="0" u="none" strike="noStrike" cap="none">
              <a:solidFill>
                <a:srgbClr val="FFFFFF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Roadmap &amp; Future Enhancements</a:t>
            </a:r>
            <a:endParaRPr lang="en-US" sz="3150" b="0" i="0" u="none" strike="noStrike" cap="none">
              <a:solidFill>
                <a:srgbClr val="38BDF8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571500" y="3624262"/>
            <a:ext cx="1104900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1643955" y="2862262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571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510733" y="3338512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Hardware</a:t>
            </a:r>
            <a:endParaRPr lang="en-US" sz="2100" b="0" i="0" u="none" strike="noStrike" cap="none">
              <a:solidFill>
                <a:srgbClr val="10B981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81" name="Google Shape;281;p26"/>
          <p:cNvSpPr txBox="1"/>
          <p:nvPr/>
        </p:nvSpPr>
        <p:spPr>
          <a:xfrm>
            <a:off x="571500" y="3805237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FPGA and ASIC acceleration for even lower latency.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4516635" y="2862262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571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3" name="Google Shape;283;p26"/>
          <p:cNvSpPr txBox="1"/>
          <p:nvPr/>
        </p:nvSpPr>
        <p:spPr>
          <a:xfrm>
            <a:off x="3383413" y="3338512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Protocols</a:t>
            </a:r>
            <a:endParaRPr lang="en-US" sz="2100" b="0" i="0" u="none" strike="noStrike" cap="none">
              <a:solidFill>
                <a:srgbClr val="10B981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3444180" y="380523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Integration with MQTT and TLS 1.3 standards.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7389316" y="2862262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571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6" name="Google Shape;286;p26"/>
          <p:cNvSpPr txBox="1"/>
          <p:nvPr/>
        </p:nvSpPr>
        <p:spPr>
          <a:xfrm>
            <a:off x="6256094" y="3338512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Field Tests</a:t>
            </a:r>
            <a:endParaRPr lang="en-US" sz="2100" b="0" i="0" u="none" strike="noStrike" cap="none">
              <a:solidFill>
                <a:srgbClr val="10B981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87" name="Google Shape;287;p26"/>
          <p:cNvSpPr txBox="1"/>
          <p:nvPr/>
        </p:nvSpPr>
        <p:spPr>
          <a:xfrm>
            <a:off x="6316860" y="3805237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Commercial deployment on active sensor networks.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10261996" y="2862262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571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9" name="Google Shape;289;p26"/>
          <p:cNvSpPr txBox="1"/>
          <p:nvPr/>
        </p:nvSpPr>
        <p:spPr>
          <a:xfrm>
            <a:off x="9128774" y="3338512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Expansion</a:t>
            </a:r>
            <a:endParaRPr lang="en-US" sz="2100" b="0" i="0" u="none" strike="noStrike" cap="none">
              <a:solidFill>
                <a:srgbClr val="10B981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90" name="Google Shape;290;p26"/>
          <p:cNvSpPr txBox="1"/>
          <p:nvPr/>
        </p:nvSpPr>
        <p:spPr>
          <a:xfrm>
            <a:off x="9189541" y="380523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Broadening compatibility for RISC-V platforms.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Questions &amp; References</a:t>
            </a:r>
            <a:endParaRPr lang="en-US" sz="3150" b="0" i="0" u="none" strike="noStrike" cap="none">
              <a:solidFill>
                <a:srgbClr val="38BDF8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97" name="Google Shape;297;p27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8" name="Google Shape;298;p27"/>
          <p:cNvSpPr txBox="1"/>
          <p:nvPr/>
        </p:nvSpPr>
        <p:spPr>
          <a:xfrm>
            <a:off x="571500" y="2900362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Key References</a:t>
            </a:r>
            <a:endParaRPr lang="en-US" sz="2100" b="0" i="0" u="none" strike="noStrike" cap="none">
              <a:solidFill>
                <a:srgbClr val="10B981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99" name="Google Shape;299;p27"/>
          <p:cNvSpPr txBox="1"/>
          <p:nvPr/>
        </p:nvSpPr>
        <p:spPr>
          <a:xfrm>
            <a:off x="6162913" y="2900362"/>
            <a:ext cx="5590698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Q&amp;A</a:t>
            </a:r>
            <a:endParaRPr lang="en-US" sz="6000" b="1" i="0" u="none" strike="noStrike" cap="none">
              <a:solidFill>
                <a:srgbClr val="38BDF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00" name="Google Shape;300;p27"/>
          <p:cNvSpPr txBox="1"/>
          <p:nvPr/>
        </p:nvSpPr>
        <p:spPr>
          <a:xfrm>
            <a:off x="6296025" y="3929062"/>
            <a:ext cx="5324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Thank you for your time.</a:t>
            </a:r>
            <a:endParaRPr lang="en-US" sz="15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01" name="Google Shape;301;p27"/>
          <p:cNvSpPr txBox="1"/>
          <p:nvPr/>
        </p:nvSpPr>
        <p:spPr>
          <a:xfrm>
            <a:off x="6321425" y="4376737"/>
            <a:ext cx="5324475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Assem Ahmad: s12325687@stu.najah.edu</a:t>
            </a:r>
            <a:endParaRPr lang="en-US" sz="1500" b="0" i="0" u="none" strike="noStrike" cap="none">
              <a:solidFill>
                <a:srgbClr val="10B98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Omar Morsi: s12327203@stu.najah.edu</a:t>
            </a:r>
            <a:endParaRPr lang="en-US" sz="1500" b="0" i="0" u="none" strike="noStrike" cap="none">
              <a:solidFill>
                <a:srgbClr val="10B98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0B98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Yaser Anan: s12429405@stu.najah.edu</a:t>
            </a:r>
            <a:endParaRPr lang="en-US" sz="1500" b="0" i="0" u="none" strike="noStrike" cap="none">
              <a:solidFill>
                <a:srgbClr val="10B98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02" name="Google Shape;302;p27"/>
          <p:cNvSpPr txBox="1"/>
          <p:nvPr/>
        </p:nvSpPr>
        <p:spPr>
          <a:xfrm>
            <a:off x="571500" y="3367087"/>
            <a:ext cx="5334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 NIST FIPS 203, 204, 205 Standards</a:t>
            </a:r>
            <a:endParaRPr lang="en-US" sz="12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03" name="Google Shape;303;p27"/>
          <p:cNvSpPr txBox="1"/>
          <p:nvPr/>
        </p:nvSpPr>
        <p:spPr>
          <a:xfrm>
            <a:off x="571500" y="3652837"/>
            <a:ext cx="5334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 CRYSTALS-Kyber &amp; Dilithium Papers</a:t>
            </a:r>
            <a:endParaRPr lang="en-US" sz="12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04" name="Google Shape;304;p27"/>
          <p:cNvSpPr txBox="1"/>
          <p:nvPr/>
        </p:nvSpPr>
        <p:spPr>
          <a:xfrm>
            <a:off x="571500" y="3938587"/>
            <a:ext cx="5334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 SPHINCS+ NIST Submission</a:t>
            </a:r>
            <a:endParaRPr lang="en-US" sz="12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05" name="Google Shape;305;p27"/>
          <p:cNvSpPr txBox="1"/>
          <p:nvPr/>
        </p:nvSpPr>
        <p:spPr>
          <a:xfrm>
            <a:off x="571500" y="4224337"/>
            <a:ext cx="53340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 Research on Lightweight PQC for IoT</a:t>
            </a:r>
            <a:endParaRPr lang="en-US" sz="12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4444</Words>
  <Application>WPS Presentation</Application>
  <PresentationFormat/>
  <Paragraphs>220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52" baseType="lpstr">
      <vt:lpstr>Arial</vt:lpstr>
      <vt:lpstr>SimSun</vt:lpstr>
      <vt:lpstr>Wingdings</vt:lpstr>
      <vt:lpstr>Arial</vt:lpstr>
      <vt:lpstr>Calibri</vt:lpstr>
      <vt:lpstr>Inter</vt:lpstr>
      <vt:lpstr>Inter SemiBold</vt:lpstr>
      <vt:lpstr>Microsoft YaHei</vt:lpstr>
      <vt:lpstr>Arial Unicode MS</vt:lpstr>
      <vt:lpstr>Andalus</vt:lpstr>
      <vt:lpstr>Algerian</vt:lpstr>
      <vt:lpstr>Arial Black</vt:lpstr>
      <vt:lpstr>Bahnschrift Light Condensed</vt:lpstr>
      <vt:lpstr>Baskerville Old Face</vt:lpstr>
      <vt:lpstr>Berlin Sans FB Demi</vt:lpstr>
      <vt:lpstr>Bodoni MT Black</vt:lpstr>
      <vt:lpstr>Cascadia Code SemiBold</vt:lpstr>
      <vt:lpstr>Century Gothic</vt:lpstr>
      <vt:lpstr>Ebrima</vt:lpstr>
      <vt:lpstr>Simplified Arabic Fixed</vt:lpstr>
      <vt:lpstr>Sitka Display Semibold</vt:lpstr>
      <vt:lpstr>Stencil</vt:lpstr>
      <vt:lpstr>Tahoma</vt:lpstr>
      <vt:lpstr>Times New Roman</vt:lpstr>
      <vt:lpstr>Traditional Arabic</vt:lpstr>
      <vt:lpstr>PT Bold Arch</vt:lpstr>
      <vt:lpstr>PT Bold Broken</vt:lpstr>
      <vt:lpstr>Kufi Extended Outline</vt:lpstr>
      <vt:lpstr>Diwani Simple Outline 2</vt:lpstr>
      <vt:lpstr>Segoe UI Variable Small Light</vt:lpstr>
      <vt:lpstr>Segoe UI Variable Display Light</vt:lpstr>
      <vt:lpstr>Rockwell Extra Bold</vt:lpstr>
      <vt:lpstr>Palatino Linotype</vt:lpstr>
      <vt:lpstr>OCR A Extended</vt:lpstr>
      <vt:lpstr>Myanmar Text</vt:lpstr>
      <vt:lpstr>MS Reference Sans Serif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عاصم أحمد فلاح خضر</cp:lastModifiedBy>
  <cp:revision>6</cp:revision>
  <dcterms:created xsi:type="dcterms:W3CDTF">2026-04-16T12:05:16Z</dcterms:created>
  <dcterms:modified xsi:type="dcterms:W3CDTF">2026-04-16T12:32:58Z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6AA2B104E31D4988B84B18D8F6B4A075_13</vt:lpwstr>
  </property>
</Properties>
</file>